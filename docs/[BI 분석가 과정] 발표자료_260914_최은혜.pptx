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인사와 주제 한 줄 소개.</a:t>
            </a:r>
          </a:p>
          <a:p/>
          <a:p>
            <a:r>
              <a:t>말할 것: 게임물과 영상물의 등급분류 결과를 각 기관 공개 API 로 전량 받아, 청소년 이용을 제한하는 등급이 무엇으로 결정되는지 확인한 프로젝트다. 두 매체를 같은 표에 놓고 비교한 자료가 드물어서 이 주제를 골랐다.</a:t>
            </a:r>
          </a:p>
          <a:p/>
          <a:p>
            <a:r>
              <a:t>발표 시간은 10~15분, 마지막에 대시보드를 직접 열어 보여 주는 순서로 진행한다고 예고하면 좋다.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순서만 짧게 읽고 넘어간다. 30초를 넘기지 않는다.</a:t>
            </a:r>
          </a:p>
          <a:p/>
          <a:p>
            <a:r>
              <a:t>강조할 점: 결론이 세 가지이고, 각 결론마다 근거 수치를 하나씩 들고 왔다는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말할 것: 세 가지 질문으로 시작했다. 특히 두 번째 질문(매체 비교)은 강사 피드백에서 나온 요구였다.</a:t>
            </a:r>
          </a:p>
          <a:p/>
          <a:p>
            <a:r>
              <a:t>마지막 줄이 이 발표의 예고편이다. 여기서 한 박자 쉬고 다음 장으로 넘어가면 좋다.</a:t>
            </a:r>
          </a:p>
          <a:p/>
          <a:p>
            <a:r>
              <a:t>질문 대비: '왜 이 주제냐'고 물으면, 등급분류 데이터는 공개돼 있는데 매체를 가로지르는 비교가 없었고, 두 기관이 항목 이름을 비슷하게 쓰고 있어 비교 가능성이 있어 보였다고 답한다.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말할 것: 표본이 아니라 전량이다. 기관이 알려주는 총 건수와 정확히 맞는 것을 확인했다.</a:t>
            </a:r>
          </a:p>
          <a:p/>
          <a:p>
            <a:r>
              <a:t>자체등급분류 76,409건은 이 프로젝트에서 수집한 것이 아니라 다른 일을 하다 확보해 둔 파일이고, 약 7주치가 전부여서 추세 분석에는 쓰지 않고 규모 비교에만 썼다.</a:t>
            </a:r>
          </a:p>
          <a:p/>
          <a:p>
            <a:r>
              <a:t>질문 대비: '왜 집에서 수집했나' → 사무실 회선에서 해당 기관 서버로 접속이 되지 않았다. 인증키 문제가 아니라 회선 문제였고, 집에서는 정상 수집되었다.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장이 분석의 전제다. 천천히 설명한다.</a:t>
            </a:r>
          </a:p>
          <a:p/>
          <a:p>
            <a:r>
              <a:t>말할 것: 두 기관이 내용정보를 주는 방식이 아예 다르다. 영상물은 항목마다 점수가 있고, 게임물은 해당하는 항목 이름만 나열한다. 그래서 그대로는 비교가 안 된다.</a:t>
            </a:r>
          </a:p>
          <a:p/>
          <a:p>
            <a:r>
              <a:t>핵심은 '이름이 같은 4개만 합쳤다'는 것. 대사와 언어는 이름이 비슷하지만 재는 대상이 달라서 합치지 않았다. 이건 강사 피드백에서 지적받은 부분이기도 하다.</a:t>
            </a:r>
          </a:p>
          <a:p/>
          <a:p>
            <a:r>
              <a:t>질문 대비: '왜 3단계에서 잘랐나' → 4단계로 자르면 영상물은 4단계가 곧 청소년관람불가라 정의상 100%가 나와 비교가 성립하지 않는다. 3단계라는 선택 자체에 근거가 있는 것은 아니며, 이 한계는 뒤에서 다시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발표의 뼈대. 이 장에서 세 문장을 또박또박 말하고, 뒤 장에서 하나씩 근거를 댄다.</a:t>
            </a:r>
          </a:p>
          <a:p/>
          <a:p>
            <a:r>
              <a:t>세 결론이 이어지는 순서가 중요하다. 1번은 '게임 규제의 실체가 무엇이냐', 2번은 '그런데 그 이야기가 게임물 전체에 해당하느냐', 3번은 '영상물은 아예 구조가 다르다' 로 이어진다.</a:t>
            </a:r>
          </a:p>
          <a:p/>
          <a:p>
            <a:r>
              <a:t>청중이 한 문장만 기억한다면 결론 1이다.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말할 것: 청소년이용불가를 받은 게임물이 실제로 어떤 항목을 갖고 있었는지 센 것이다. 약 4분의 3이 사행성을 갖고 있다.</a:t>
            </a:r>
          </a:p>
          <a:p/>
          <a:p>
            <a:r>
              <a:t>아래 줄이 더 중요하다. 사행성이 붙으면 95.3%가 청소년이용불가이고, 없으면 8.9%다. 다른 어떤 항목에서도 이만한 차이가 나지 않는다.</a:t>
            </a:r>
          </a:p>
          <a:p/>
          <a:p>
            <a:r>
              <a:t>용어 설명이 필요하면: 사행성은 도박성, 즉 베팅 요소를 말한다. 웹보드 게임(고스톱·포커류)이 여기 해당한다.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말할 것: 앞 장은 '청불 게임이 무엇을 갖고 있었나'였고, 이 장은 반대 방향이다. '그 항목 하나만 가진 게임은 어떤 등급을 받았나'를 본 것이다.</a:t>
            </a:r>
          </a:p>
          <a:p/>
          <a:p>
            <a:r>
              <a:t>사행성만 붙으면 97.1%가 청소년이용불가인데, 폭력성만 붙은 게임은 11.1%뿐이다. 열 개 중 아홉은 청소년도 이용할 수 있다는 뜻이다.</a:t>
            </a:r>
          </a:p>
          <a:p/>
          <a:p>
            <a:r>
              <a:t>아래 문장은 데이터 품질 이야기다. 내용정보 칸이 빈 게 절반 가까이 되는데, 그 건들의 청불률이 0.06%라서 '기록을 안 한 것'이 아니라 '해당 요소가 없는 것'으로 판단했다.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말할 것: 결론 1은 위원회가 직접 심의한 게임물 이야기다. 그런데 게임물 등급분류는 두 경로로 이뤄진다. 위원회 심의와, 구글·애플 같은 사업자의 자체등급분류다.</a:t>
            </a:r>
          </a:p>
          <a:p/>
          <a:p>
            <a:r>
              <a:t>같은 기간으로 맞춰 보니 위원회 207건 대 자체등급분류 76,409건, 약 369배 차이였다. 공개 API 로 볼 수 있는 건 전체의 0.27%뿐이다.</a:t>
            </a:r>
          </a:p>
          <a:p/>
          <a:p>
            <a:r>
              <a:t>중요: 이 차이를 '사업자가 느슨하다'로 읽으면 안 된다. 자체등급분류에는 사행성 게임이 거의 없다(0.05% 대 23.2%). 애초에 들어오는 게임이 다르다.</a:t>
            </a:r>
          </a:p>
          <a:p/>
          <a:p>
            <a:r>
              <a:t>질문 대비: '그럼 결론 1은 의미가 없나' → 아니다. 다만 '위원회가 직접 심의한 게임물'이라는 조건을 반드시 붙여야 한다는 뜻이고, 그 조건을 대시보드와 리포트에 모두 적어 두었다.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말할 것: 영상물은 항목마다 점수가 있으니, 그 점수와 등급의 관계를 보는 게 자연스러운 분석이다. 그런데 해 보니 관계가 아니라 항등식이었다.</a:t>
            </a:r>
          </a:p>
          <a:p/>
          <a:p>
            <a:r>
              <a:t>가장 높은 점수가 1단계면 전부 전체관람가, 2단계면 전부 12세다. 99.93%가 그렇고, 표기 방식이 바뀐 2017년 5월 이후로는 예외가 하나도 없다.</a:t>
            </a:r>
          </a:p>
          <a:p/>
          <a:p>
            <a:r>
              <a:t>이 발견의 의미: 원래 하려던 분석(내용정보로 등급 설명)이 무의미해졌다. 실제로 회귀분석을 돌렸더니 AUC 가 1.000 이 나왔는데, 모형이 좋아서가 아니라 정답을 미리 알려준 것이었다. 이걸 확인하고 분석 방향을 바꿨다.</a:t>
            </a:r>
          </a:p>
          <a:p/>
          <a:p>
            <a:r>
              <a:t>AUC 설명이 필요하면: 1에 가까울수록 완벽히 맞힌다는 뜻이고, 1.000 은 현실 데이터에서 나올 수 없는 값이라 의심해야 한다고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말할 것: 앞 장에서 등급은 옮겨 적은 값이라고 했다. 그러면 이 자료에서 사람의 판단은 어디에 남아 있나. 신청등급이다.</a:t>
            </a:r>
          </a:p>
          <a:p/>
          <a:p>
            <a:r>
              <a:t>신청인이 스스로 매긴 등급과 위원회가 결정한 등급이 갈리는 지점, 그게 12.2%다. 여기만 내용정보로 설명되지 않는다.</a:t>
            </a:r>
          </a:p>
          <a:p/>
          <a:p>
            <a:r>
              <a:t>질문 대비: '상향률을 모형으로 설명해 봤나' → 내용정보와 종별·연도로 상향 여부를 예측하면 AUC 0.825 가 나온다. 신청등급 자체는 변수로 넣지 않았다. 넣으면 다시 항등식이 되기 때문이다.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말할 것: 강사 피드백의 핵심 요구가 '같은 내용 수준에서 매체 간 차이를 보라'는 것이었다. 이 장이 그 답이다.</a:t>
            </a:r>
          </a:p>
          <a:p/>
          <a:p>
            <a:r>
              <a:t>보유 조합이 완전히 같은 건끼리만 비교했다. 예를 들어 '선정성만 있는 건'끼리, '폭력성과 공포가 있는 건'끼리 비교한 것이다. 비교 가능한 10개 조합 전부에서 게임물이 더 높았고 평균 15.1%p 차이였다.</a:t>
            </a:r>
          </a:p>
          <a:p/>
          <a:p>
            <a:r>
              <a:t>한계를 반드시 같이 말한다. 이 결론은 '3단계 이상을 보유로 본다'는 기준 위에서만 성립한다. 발표에서 이 단서를 빼면 과장이 된다.</a:t>
            </a:r>
          </a:p>
          <a:p/>
          <a:p>
            <a:r>
              <a:t>질문 대비: '왜 사행성은 비교에서 뺐나' → 영상물에 대응 항목이 없어서다. 넣으면 사행성 때문에 청불이 된 게임이 '항목 없음' 칸에 섞여 결과가 뒤집힌다. 영상물 쪽도 대칭으로 주제·대사·모방위험을 뺐다.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말할 것: 세 결론 밖에서 따로 정리한 분석이다. 청소년 이용 제한 콘텐츠만 떼어 규모·추이·분포·항목·조합을 본 것이고, 산출물 ③번에 해당한다.</a:t>
            </a:r>
          </a:p>
          <a:p/>
          <a:p>
            <a:r>
              <a:t>가장 조심해야 할 숫자가 영상물 43.7%다. 이건 성인물이 만든 숫자여서 그대로 인용하면 오해를 부른다. 성인물을 빼면 10.7%다.</a:t>
            </a:r>
          </a:p>
          <a:p/>
          <a:p>
            <a:r>
              <a:t>질문 대비: '자체등급분류 83건은 뭐냐' → 사업자는 청소년이용불가 게임물을 자체분류할 수 없다. 그런데 83건이 남아 있다는 건 이 데이터가 '분류 시점의 등급'이 아니라 '현재 등급'을 보여준다는 뜻이다. 사후 조정의 흔적으로 읽었다.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말할 것: 산출물은 다섯 가지다. 화면에 URL 이 있으니 다음 장에서 직접 열어 보여 준다.</a:t>
            </a:r>
          </a:p>
          <a:p/>
          <a:p>
            <a:r>
              <a:t>강조할 점: 손으로 옮겨 적은 숫자가 없다는 것. 리포트든 대시보드든 발표자료든 모두 같은 계산 결과를 읽어 오게 만들었다. 수집이 늘어나도 숫자가 어긋나지 않는다.</a:t>
            </a:r>
          </a:p>
          <a:p/>
          <a:p>
            <a:r>
              <a:t>질문 대비: '데이터는 어디서 볼 수 있나' → 통합 Dataset 은 parquet 과 csv 로 있고, 열 정의를 적은 데이터 사전을 HTML 로 함께 만들어 두었다.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여기서 실제로 브라우저를 열어 보여 주는 것이 가장 효과적이다.</a:t>
            </a:r>
          </a:p>
          <a:p/>
          <a:p>
            <a:r>
              <a:t>시연 순서 추천: ① 화면에서 대각선만 채워진 교차표를 보여 주고(결론 3), ④ 화면으로 넘어가 이진화 기준을 4단계로 바꿔 경고 문구가 뜨는 것을 보여 준다. '이 기준으로는 비교가 성립하지 않는다'는 것을 화면이 스스로 경고하도록 만들어 두었다.</a:t>
            </a:r>
          </a:p>
          <a:p/>
          <a:p>
            <a:r>
              <a:t>주의: 무료 요금제라 한동안 접속이 없으면 앱이 대기 상태로 들어간다. 발표 시작 전에 미리 한 번 열어 두어야 한다. 첫 접속은 십여 초 걸린다.</a:t>
            </a:r>
          </a:p>
          <a:p/>
          <a:p>
            <a:r>
              <a:t>질문 대비: '어떻게 배포했나' → GitHub 비공개 저장소에 올리고 Streamlit Cloud 에 연결했다. 화면이 쓰는 열만 남긴 사본을 따로 만들어 저장소에 넣었다.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말할 것: 한계를 숨기지 않는 게 이 발표의 신뢰도를 만든다. 네 가지를 짚는다.</a:t>
            </a:r>
          </a:p>
          <a:p/>
          <a:p>
            <a:r>
              <a:t>특히 첫 번째(0.27%)와 세 번째(3단계 절단)는 결론을 인용할 때 반드시 따라붙어야 하는 단서다.</a:t>
            </a:r>
          </a:p>
          <a:p/>
          <a:p>
            <a:r>
              <a:t>후속 과제는 '다음에 뭘 할 거냐'는 질문에 대한 답으로 준비해 둔 것이다. 두 자료 모두 사람이 쓴 설명문 칸이 있어서 텍스트 분석으로 이어갈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장이 발표의 인상을 결정한다. 실패를 숨기지 않고 원인을 설명하는 장이다.</a:t>
            </a:r>
          </a:p>
          <a:p/>
          <a:p>
            <a:r>
              <a:t>첫 번째: 처음에는 내용정보로 등급을 예측하는 모형을 만들려고 했다. AUC 가 1.000 이 나왔고, 좋아하기 전에 이상하다고 생각해서 교차표를 찍어 봤더니 두 값이 같은 값이었다.</a:t>
            </a:r>
          </a:p>
          <a:p/>
          <a:p>
            <a:r>
              <a:t>두 번째: 항목이 여러 개 겹칠수록 등급이 올라가는데 5개에서 꺾이는 결과가 나왔다. 성인물이 4개 구간에 89% 몰려 있어 생긴 착시였다. 심슨의 역설 사례다.</a:t>
            </a:r>
          </a:p>
          <a:p/>
          <a:p>
            <a:r>
              <a:t>질문 대비: '심슨의 역설이 뭐냐' → 전체를 합쳐서 보면 한 방향인데 집단을 나눠 보면 반대 방향이 나오는 현상이라고 짧게 답한다.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네 문장으로 정리하고 마친다.</a:t>
            </a:r>
          </a:p>
          <a:p/>
          <a:p>
            <a:r>
              <a:t>질의응답에서 자주 나올 만한 것 정리:</a:t>
            </a:r>
          </a:p>
          <a:p>
            <a:r>
              <a:t>· 데이터는 어떻게 받았나 → 두 기관 공개 API, 전량, 기관 총 건수와 일치.</a:t>
            </a:r>
          </a:p>
          <a:p>
            <a:r>
              <a:t>· 왜 두 매체를 비교했나 → 강사 피드백에서 나온 요구이자, 두 기관이 같은 이름의 항목을 쓰고 있어 비교 가능성이 있었다.</a:t>
            </a:r>
          </a:p>
          <a:p>
            <a:r>
              <a:t>· 실무에 어떻게 쓰나 → 등급분류 결과를 인용할 때 '어느 경로의 분류분인지'를 함께 밝혀야 한다는 점, 그리고 공개 데이터만으로 게임물 전체를 말할 수 없다는 점.</a:t>
            </a:r>
          </a:p>
          <a:p>
            <a:r>
              <a:t>· 가장 어려웠던 점 → 수집 자체보다, 결과가 너무 깨끗해서 의심해야 했던 지점들.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331720"/>
            <a:ext cx="1463040" cy="5486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맑은 고딕"/>
              </a:rPr>
              <a:t>BI 분석가 과정 개인 프로젝트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000" b="1">
                <a:solidFill>
                  <a:srgbClr val="1F3864"/>
                </a:solidFill>
                <a:latin typeface="맑은 고딕"/>
              </a:rPr>
              <a:t>청소년 이용 제한 등급은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000" b="1">
                <a:solidFill>
                  <a:srgbClr val="1F3864"/>
                </a:solidFill>
                <a:latin typeface="맑은 고딕"/>
              </a:rPr>
              <a:t>무엇을 기준으로 결정되는가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0">
                <a:solidFill>
                  <a:srgbClr val="1F2328"/>
                </a:solidFill>
                <a:latin typeface="맑은 고딕"/>
              </a:rPr>
              <a:t>게임물·영상물 등급분류 공공데이터 240,290건 전량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맑은 고딕"/>
              </a:rPr>
              <a:t>2026. 09. 14.   최은혜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1F3864"/>
                </a:solidFill>
                <a:latin typeface="맑은 고딕"/>
              </a:rPr>
              <a:t>발표 순서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11274552" cy="320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40" cy="3328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4016"/>
                <a:gridCol w="6437376"/>
                <a:gridCol w="2212848"/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1">
                          <a:solidFill>
                            <a:srgbClr val="1F3864"/>
                          </a:solidFill>
                          <a:latin typeface="맑은 고딕"/>
                        </a:rPr>
                        <a:t>순서</a:t>
                      </a:r>
                    </a:p>
                  </a:txBody>
                  <a:tcPr marL="91440" marR="91440" marT="45720" marB="4572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1">
                          <a:solidFill>
                            <a:srgbClr val="1F3864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91440" marR="91440" marT="45720" marB="4572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1">
                          <a:solidFill>
                            <a:srgbClr val="1F3864"/>
                          </a:solidFill>
                          <a:latin typeface="맑은 고딕"/>
                        </a:rPr>
                        <a:t>핵심 숫자</a:t>
                      </a:r>
                    </a:p>
                  </a:txBody>
                  <a:tcPr marL="91440" marR="91440" marT="45720" marB="45720">
                    <a:solidFill>
                      <a:srgbClr val="EEF1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</a:rPr>
                        <a:t>1. 주제와 데이터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</a:rPr>
                        <a:t>왜 이 주제인가 · 무엇을 얼마나 모았는가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</a:rPr>
                        <a:t>240,290건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</a:rPr>
                        <a:t>2. 결론 1 · 게임물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</a:rPr>
                        <a:t>청소년이용불가를 만드는 것은 사행성이다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</a:rPr>
                        <a:t>76.3%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</a:rPr>
                        <a:t>3. 결론 2 · 공개 범위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</a:rPr>
                        <a:t>위원회 심의는 전체의 일부다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</a:rPr>
                        <a:t>0.27%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</a:rPr>
                        <a:t>4. 결론 3 · 영상물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</a:rPr>
                        <a:t>등급은 내용정보의 최고값과 같다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</a:rPr>
                        <a:t>99.93%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</a:rPr>
                        <a:t>5. 매체 비교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</a:rPr>
                        <a:t>같은 조건에서 게임물이 더 엄격하다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</a:rPr>
                        <a:t>+15.1%p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</a:rPr>
                        <a:t>6. 산출물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</a:rPr>
                        <a:t>데이터셋·EDA·특성 분석·대시보드·리포트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</a:rPr>
                        <a:t>5종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</a:rPr>
                        <a:t>7. 한계와 배운 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</a:rPr>
                        <a:t>무엇을 못 했고 어떤 결론을 폐기했는가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</a:rPr>
                        <a:t>2건 폐기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맑은 고딕"/>
              </a:rPr>
              <a:t>1. 주제와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1F3864"/>
                </a:solidFill>
                <a:latin typeface="맑은 고딕"/>
              </a:rPr>
              <a:t>왜 이 주제인가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4552" cy="320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1F2328"/>
                </a:solidFill>
                <a:latin typeface="맑은 고딕"/>
              </a:rPr>
              <a:t>게임물과 영상물은 각각 다른 기관이 등급을 매기고, 그 결과를 공개한다.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1F2328"/>
                </a:solidFill>
                <a:latin typeface="맑은 고딕"/>
              </a:rPr>
              <a:t>그런데 두 자료를 한 표에 놓고 비교한 분석은 찾기 어렵다.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743200"/>
          <a:ext cx="11064240" cy="18928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0"/>
                <a:gridCol w="6035040"/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1">
                          <a:solidFill>
                            <a:srgbClr val="1F3864"/>
                          </a:solidFill>
                          <a:latin typeface="맑은 고딕"/>
                        </a:rPr>
                        <a:t>분석 질문</a:t>
                      </a:r>
                    </a:p>
                  </a:txBody>
                  <a:tcPr marL="91440" marR="91440" marT="45720" marB="4572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1">
                          <a:solidFill>
                            <a:srgbClr val="1F3864"/>
                          </a:solidFill>
                          <a:latin typeface="맑은 고딕"/>
                        </a:rPr>
                        <a:t>확인 방법</a:t>
                      </a:r>
                    </a:p>
                  </a:txBody>
                  <a:tcPr marL="91440" marR="91440" marT="45720" marB="45720">
                    <a:solidFill>
                      <a:srgbClr val="EEF1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</a:rPr>
                        <a:t>청소년 이용을 제한하는 등급은 무엇을 근거로 결정되는가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</a:rPr>
                        <a:t>등급과 내용정보 7개 항목의 대응 관계를 전량 교차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</a:rPr>
                        <a:t>매체에 따라 판정이 달라지는가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</a:rPr>
                        <a:t>명칭이 같은 4개 항목만 남겨 동일 조건에서 비교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</a:rPr>
                        <a:t>공개된 데이터로 '게임물 전체'를 말할 수 있는가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</a:rPr>
                        <a:t>위원회 심의분과 사업자 자체등급분류 물량을 같은 기간으로 비교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1F3864"/>
                </a:solidFill>
                <a:latin typeface="맑은 고딕"/>
              </a:rPr>
              <a:t>통상 게임물 규제의 이유로는 폭력성과 선정성이 언급된다. 데이터의 답은 달랐다.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맑은 고딕"/>
              </a:rPr>
              <a:t>1. 주제와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1F3864"/>
                </a:solidFill>
                <a:latin typeface="맑은 고딕"/>
              </a:rPr>
              <a:t>무엇을 얼마나 모았는가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4552" cy="320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40" cy="22128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3657600"/>
                <a:gridCol w="1737360"/>
                <a:gridCol w="173736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1F3864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1F3864"/>
                          </a:solidFill>
                          <a:latin typeface="맑은 고딕"/>
                        </a:rPr>
                        <a:t>출처</a:t>
                      </a:r>
                    </a:p>
                  </a:txBody>
                  <a:tcPr marL="91440" marR="91440" marT="45720" marB="4572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1F3864"/>
                          </a:solidFill>
                          <a:latin typeface="맑은 고딕"/>
                        </a:rPr>
                        <a:t>건수</a:t>
                      </a:r>
                    </a:p>
                  </a:txBody>
                  <a:tcPr marL="91440" marR="91440" marT="45720" marB="4572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1F3864"/>
                          </a:solidFill>
                          <a:latin typeface="맑은 고딕"/>
                        </a:rPr>
                        <a:t>기간</a:t>
                      </a:r>
                    </a:p>
                  </a:txBody>
                  <a:tcPr marL="91440" marR="91440" marT="45720" marB="4572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1F3864"/>
                          </a:solidFill>
                          <a:latin typeface="맑은 고딕"/>
                        </a:rPr>
                        <a:t>역할</a:t>
                      </a:r>
                    </a:p>
                  </a:txBody>
                  <a:tcPr marL="91440" marR="91440" marT="45720" marB="45720">
                    <a:solidFill>
                      <a:srgbClr val="EEF1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영상물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영상물등급위원회 Open API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134,464건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2009~2026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분석 대상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게임물(위원회)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게임물관리위원회 Open API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29,417건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2007~2026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분석 대상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게임물(자체등급분류)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별도 업무에서 확보한 파일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76,409건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2026-07~08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비교군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통합 분석 Dataset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위 셋을 한 표로 통합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240,290행 × 35열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2007~2026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산출물 ①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0233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1F3864"/>
                </a:solidFill>
                <a:latin typeface="맑은 고딕"/>
              </a:rPr>
              <a:t>수집 과정에서 막혔던 두 가지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48056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F2328"/>
                </a:solidFill>
                <a:latin typeface="맑은 고딕"/>
              </a:rPr>
              <a:t>· 영상물: 약 99,000건 지점부터 조회가 거부되었다. 페이지 대신 기간을 나눠 요청하는 방식으로 바꿔 전량을 받았다.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F2328"/>
                </a:solidFill>
                <a:latin typeface="맑은 고딕"/>
              </a:rPr>
              <a:t>· 게임물: 사무실 회선에서 기관 서버에 접속되지 않아 집에서 수집하였다. 순차 호출·요청 상한 등 안전장치를 걸고 월 단위로 나눠 받았다.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F2328"/>
                </a:solidFill>
                <a:latin typeface="맑은 고딕"/>
              </a:rPr>
              <a:t>· 두 매체 모두 기관이 제공하는 총 건수와 수집 건수가 정확히 일치한다.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맑은 고딕"/>
              </a:rPr>
              <a:t>1. 주제와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1F3864"/>
                </a:solidFill>
                <a:latin typeface="맑은 고딕"/>
              </a:rPr>
              <a:t>두 기관의 자료를 어떻게 한 표로 합쳤는가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4552" cy="320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40" cy="23957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0320"/>
                <a:gridCol w="4389120"/>
                <a:gridCol w="4114800"/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</a:p>
                  </a:txBody>
                  <a:tcPr marL="91440" marR="91440" marT="45720" marB="4572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1F3864"/>
                          </a:solidFill>
                          <a:latin typeface="맑은 고딕"/>
                        </a:rPr>
                        <a:t>영상물</a:t>
                      </a:r>
                    </a:p>
                  </a:txBody>
                  <a:tcPr marL="91440" marR="91440" marT="45720" marB="4572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1F3864"/>
                          </a:solidFill>
                          <a:latin typeface="맑은 고딕"/>
                        </a:rPr>
                        <a:t>게임물</a:t>
                      </a:r>
                    </a:p>
                  </a:txBody>
                  <a:tcPr marL="91440" marR="91440" marT="45720" marB="45720">
                    <a:solidFill>
                      <a:srgbClr val="EEF1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내용정보 제공 형태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항목마다 1~5단계 수준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해당 항목의 이름만 나열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항목 구성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주제·선정성·폭력성·대사·공포·약물·모방위험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선정성·폭력성·공포·약물·언어·범죄·사행성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통합한 항목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선정성·폭력성·공포·약물 4개만 (명칭이 동일)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좌동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통합하지 않은 항목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주제·대사·모방위험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언어·범죄·사행성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29768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1F2328"/>
                </a:solidFill>
                <a:latin typeface="맑은 고딕"/>
              </a:rPr>
              <a:t>· 명칭이 같은 4개만 같은 칸에 넣었다. 대사와 언어처럼 비슷해 보이는 항목도 재는 대상이 달라 합치지 않았다. 합치면 없는 값을 만들어 내는 셈이 된다.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1F2328"/>
                </a:solidFill>
                <a:latin typeface="맑은 고딕"/>
              </a:rPr>
              <a:t>· 영상물의 1~5단계는 3단계 이상을 '보유'로 보아 게임물의 보유·미보유 체계에 맞췄다. 원래 단계값도 함께 보관해 두었다.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1F2328"/>
                </a:solidFill>
                <a:latin typeface="맑은 고딕"/>
              </a:rPr>
              <a:t>· 비교에 쓸 수 있는 건은 154,328건이다. 제외 대상은 지우지 않고 표시만 해 두었다.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1F3864"/>
                </a:solidFill>
                <a:latin typeface="맑은 고딕"/>
              </a:rPr>
              <a:t>결론 세 가지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11274552" cy="320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1F3864"/>
                </a:solidFill>
                <a:latin typeface="맑은 고딕"/>
              </a:rPr>
              <a:t>결론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408176"/>
            <a:ext cx="6035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50" b="1">
                <a:solidFill>
                  <a:srgbClr val="1F2328"/>
                </a:solidFill>
                <a:latin typeface="맑은 고딕"/>
              </a:rPr>
              <a:t>게임물의 청소년이용불가를 결정하는 것은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50" b="1">
                <a:solidFill>
                  <a:srgbClr val="1F2328"/>
                </a:solidFill>
                <a:latin typeface="맑은 고딕"/>
              </a:rPr>
              <a:t>폭력성이나 선정성이 아니라 사행성이다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1298448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1F3864"/>
                </a:solidFill>
                <a:latin typeface="맑은 고딕"/>
              </a:rPr>
              <a:t>76.3%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1444752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50" b="0">
                <a:solidFill>
                  <a:srgbClr val="6B7280"/>
                </a:solidFill>
                <a:latin typeface="맑은 고딕"/>
              </a:rPr>
              <a:t>청소년이용불가 게임물 중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50" b="0">
                <a:solidFill>
                  <a:srgbClr val="6B7280"/>
                </a:solidFill>
                <a:latin typeface="맑은 고딕"/>
              </a:rPr>
              <a:t>사행성 보유 비율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1F3864"/>
                </a:solidFill>
                <a:latin typeface="맑은 고딕"/>
              </a:rPr>
              <a:t>결론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099816"/>
            <a:ext cx="6035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50" b="1">
                <a:solidFill>
                  <a:srgbClr val="1F2328"/>
                </a:solidFill>
                <a:latin typeface="맑은 고딕"/>
              </a:rPr>
              <a:t>그런데 위원회 심의 대상은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50" b="1">
                <a:solidFill>
                  <a:srgbClr val="1F2328"/>
                </a:solidFill>
                <a:latin typeface="맑은 고딕"/>
              </a:rPr>
              <a:t>게임물 등급분류 전체의 일부에 불과하다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990088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1F3864"/>
                </a:solidFill>
                <a:latin typeface="맑은 고딕"/>
              </a:rPr>
              <a:t>0.27%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3136392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50" b="0">
                <a:solidFill>
                  <a:srgbClr val="6B7280"/>
                </a:solidFill>
                <a:latin typeface="맑은 고딕"/>
              </a:rPr>
              <a:t>같은 기간 위원회 심의가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50" b="0">
                <a:solidFill>
                  <a:srgbClr val="6B7280"/>
                </a:solidFill>
                <a:latin typeface="맑은 고딕"/>
              </a:rPr>
              <a:t>차지하는 비중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46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1F3864"/>
                </a:solidFill>
                <a:latin typeface="맑은 고딕"/>
              </a:rPr>
              <a:t>결론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791456"/>
            <a:ext cx="6035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50" b="1">
                <a:solidFill>
                  <a:srgbClr val="1F2328"/>
                </a:solidFill>
                <a:latin typeface="맑은 고딕"/>
              </a:rPr>
              <a:t>영상물의 등급은 내용정보 7개 항목의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50" b="1">
                <a:solidFill>
                  <a:srgbClr val="1F2328"/>
                </a:solidFill>
                <a:latin typeface="맑은 고딕"/>
              </a:rPr>
              <a:t>최고값과 사실상 동일하다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4681728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1F3864"/>
                </a:solidFill>
                <a:latin typeface="맑은 고딕"/>
              </a:rPr>
              <a:t>99.93%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4828032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50" b="0">
                <a:solidFill>
                  <a:srgbClr val="6B7280"/>
                </a:solidFill>
                <a:latin typeface="맑은 고딕"/>
              </a:rPr>
              <a:t>최고값과 결정등급이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50" b="0">
                <a:solidFill>
                  <a:srgbClr val="6B7280"/>
                </a:solidFill>
                <a:latin typeface="맑은 고딕"/>
              </a:rPr>
              <a:t>일치하는 비율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맑은 고딕"/>
              </a:rPr>
              <a:t>2. 결론 1 · 게임물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1F3864"/>
                </a:solidFill>
                <a:latin typeface="맑은 고딕"/>
              </a:rPr>
              <a:t>청소년이용불가 게임물은 무엇을 갖고 있었는가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4552" cy="320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p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6766560" cy="3195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554480"/>
            <a:ext cx="4023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F2328"/>
                </a:solidFill>
                <a:latin typeface="맑은 고딕"/>
              </a:rPr>
              <a:t>청소년이용불가 게임물 8,223건 중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F2328"/>
                </a:solidFill>
                <a:latin typeface="맑은 고딕"/>
              </a:rPr>
              <a:t>76.3%가 사행성을 보유한다.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F2328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F2328"/>
                </a:solidFill>
                <a:latin typeface="맑은 고딕"/>
              </a:rPr>
              <a:t>폭력성 18.3%,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F2328"/>
                </a:solidFill>
                <a:latin typeface="맑은 고딕"/>
              </a:rPr>
              <a:t>선정성 17.0%와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F2328"/>
                </a:solidFill>
                <a:latin typeface="맑은 고딕"/>
              </a:rPr>
              <a:t>차이가 크다.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F2328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F2328"/>
                </a:solidFill>
                <a:latin typeface="맑은 고딕"/>
              </a:rPr>
              <a:t>한 건이 여러 항목을 보유할 수 있어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F2328"/>
                </a:solidFill>
                <a:latin typeface="맑은 고딕"/>
              </a:rPr>
              <a:t>합계는 100%를 넘는다.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20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  <a:latin typeface="맑은 고딕"/>
              </a:rPr>
              <a:t>사행성 보유 게임물의 청소년이용불가 비율 95.3%   ·   미보유 시 8.9%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맑은 고딕"/>
              </a:rPr>
              <a:t>2. 결론 1 · 게임물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1F3864"/>
                </a:solidFill>
                <a:latin typeface="맑은 고딕"/>
              </a:rPr>
              <a:t>항목을 하나만 가진 건으로 좁혀도 같다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4552" cy="320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6949440" cy="3088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0" y="1554480"/>
            <a:ext cx="3931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F2328"/>
                </a:solidFill>
                <a:latin typeface="맑은 고딕"/>
              </a:rPr>
              <a:t>다른 항목이 섞이지 않은 건만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F2328"/>
                </a:solidFill>
                <a:latin typeface="맑은 고딕"/>
              </a:rPr>
              <a:t>모아 비교한 것이다.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F2328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F2328"/>
                </a:solidFill>
                <a:latin typeface="맑은 고딕"/>
              </a:rPr>
              <a:t>사행성 단독 97.1%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F2328"/>
                </a:solidFill>
                <a:latin typeface="맑은 고딕"/>
              </a:rPr>
              <a:t>선정성 단독 55.6%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F2328"/>
                </a:solidFill>
                <a:latin typeface="맑은 고딕"/>
              </a:rPr>
              <a:t>폭력성 단독 11.1%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F2328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F2328"/>
                </a:solidFill>
                <a:latin typeface="맑은 고딕"/>
              </a:rPr>
              <a:t>같은 '항목 하나'인데 결과가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F2328"/>
                </a:solidFill>
                <a:latin typeface="맑은 고딕"/>
              </a:rPr>
              <a:t>전혀 다르다.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1F2328"/>
                </a:solidFill>
                <a:latin typeface="맑은 고딕"/>
              </a:rPr>
              <a:t>게임물은 수준이라는 개념 없이 어떤 항목이 붙었는지로 등급이 갈린다.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1F2328"/>
                </a:solidFill>
                <a:latin typeface="맑은 고딕"/>
              </a:rPr>
              <a:t>내용정보가 비어 있는 13,993건의 청소년이용불가 비율은 0.06%로, 미기재가 아니라 '해당 요소 없음'으로 볼 수 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맑은 고딕"/>
              </a:rPr>
              <a:t>3. 결론 2 · 공개 범위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1F3864"/>
                </a:solidFill>
                <a:latin typeface="맑은 고딕"/>
              </a:rPr>
              <a:t>그런데 이 이야기는 게임물 전체가 아니다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4552" cy="320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6000" b="1">
                <a:solidFill>
                  <a:srgbClr val="1F3864"/>
                </a:solidFill>
                <a:latin typeface="맑은 고딕"/>
              </a:rPr>
              <a:t>0.27%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04872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같은 기간 전체 등급분류 중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위원회 심의가 차지하는 비중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937760" y="1554480"/>
          <a:ext cx="6675120" cy="18928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173736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1F3864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1F3864"/>
                          </a:solidFill>
                          <a:latin typeface="맑은 고딕"/>
                        </a:rPr>
                        <a:t>건수</a:t>
                      </a:r>
                    </a:p>
                  </a:txBody>
                  <a:tcPr marL="91440" marR="91440" marT="45720" marB="4572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1F3864"/>
                          </a:solidFill>
                          <a:latin typeface="맑은 고딕"/>
                        </a:rPr>
                        <a:t>청소년이용불가</a:t>
                      </a:r>
                    </a:p>
                  </a:txBody>
                  <a:tcPr marL="91440" marR="91440" marT="45720" marB="45720">
                    <a:solidFill>
                      <a:srgbClr val="EEF1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위원회 심의 (2026-07-01~2026-08-19)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207건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29.7% (전 기간)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사업자 자체등급분류 (같은 기간)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76,409건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0.11%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차이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약 369배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206240"/>
            <a:ext cx="10607040" cy="146544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760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1F2328"/>
                </a:solidFill>
                <a:latin typeface="맑은 고딕"/>
              </a:rPr>
              <a:t>19년간의 위원회 분류 건수보다 7주간의 자체등급분류 건수가 더 많다. 다만 두 경로에 들어오는 게임물의 성격이 달라 심의 엄격도의 차이로 해석해서는 안 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맑은 고딕"/>
              </a:rPr>
              <a:t>4. 결론 3 · 영상물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1F3864"/>
                </a:solidFill>
                <a:latin typeface="맑은 고딕"/>
              </a:rPr>
              <a:t>영상물은 등급 결정 구조가 아예 다르다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4552" cy="320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</a:rPr>
              <a:t>영상물은 내용정보 7개 항목에 각각 1~5단계를 부여한다. 그 최고값을 그대로 등급에 대응시켜 보았다.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377440"/>
          <a:ext cx="6949440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3840480"/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1F3864"/>
                          </a:solidFill>
                          <a:latin typeface="맑은 고딕"/>
                        </a:rPr>
                        <a:t>내용정보 최고값</a:t>
                      </a:r>
                    </a:p>
                  </a:txBody>
                  <a:tcPr marL="91440" marR="91440" marT="45720" marB="4572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1F3864"/>
                          </a:solidFill>
                          <a:latin typeface="맑은 고딕"/>
                        </a:rPr>
                        <a:t>대응하는 관람등급</a:t>
                      </a:r>
                    </a:p>
                  </a:txBody>
                  <a:tcPr marL="91440" marR="91440" marT="45720" marB="45720">
                    <a:solidFill>
                      <a:srgbClr val="EEF1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1단계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전체관람가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2단계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12세이상관람가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3단계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15세이상관람가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4단계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청소년관람불가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5단계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제한관람가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863840" y="228600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400" b="1">
                <a:solidFill>
                  <a:srgbClr val="1F3864"/>
                </a:solidFill>
                <a:latin typeface="맑은 고딕"/>
              </a:rPr>
              <a:t>99.93%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3273552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134,462건 중 134,364건이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이 규칙에 부합한다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411480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1F2328"/>
                </a:solidFill>
                <a:latin typeface="맑은 고딕"/>
              </a:rPr>
              <a:t>표기 체계가 바뀐 2017년 5월 이후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1F2328"/>
                </a:solidFill>
                <a:latin typeface="맑은 고딕"/>
              </a:rPr>
              <a:t>94,516건에서는 예외가 0건이다.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949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1">
                <a:solidFill>
                  <a:srgbClr val="1F3864"/>
                </a:solidFill>
                <a:latin typeface="맑은 고딕"/>
              </a:rPr>
              <a:t>등급은 산정된 값이 아니라 최고값을 옮겨 적은 값이다. 따라서 내용정보로 등급을 설명하는 분석은 성립하지 않는다. 같은 값을 두 번 쓰는 것이기 때문이다.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맑은 고딕"/>
              </a:rPr>
              <a:t>4. 결론 3 · 영상물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1F3864"/>
                </a:solidFill>
                <a:latin typeface="맑은 고딕"/>
              </a:rPr>
              <a:t>판단이 개입하는 유일한 영역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4552" cy="320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5200" b="1">
                <a:solidFill>
                  <a:srgbClr val="1F3864"/>
                </a:solidFill>
                <a:latin typeface="맑은 고딕"/>
              </a:rPr>
              <a:t>12.2%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42032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신청등급과 결정등급이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달라진 비율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554480"/>
            <a:ext cx="6858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F2328"/>
                </a:solidFill>
                <a:latin typeface="맑은 고딕"/>
              </a:rPr>
              <a:t>· 상향 8.6% · 하향 3.6%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F2328"/>
                </a:solidFill>
                <a:latin typeface="맑은 고딕"/>
              </a:rPr>
              <a:t>· 신청등급은 신청인이 스스로 판단해 적어 낸 값이므로 결정등급과 같은 값이 아니다.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F2328"/>
                </a:solidFill>
                <a:latin typeface="맑은 고딕"/>
              </a:rPr>
              <a:t>· 12세로 신청한 건의 28.2%가 상향 조정되었다. 신청인이 등급을 가장 낮게 예측하는 구간이다.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F2328"/>
                </a:solidFill>
                <a:latin typeface="맑은 고딕"/>
              </a:rPr>
              <a:t>· 반대로 청소년관람불가로 신청하면 더 올라갈 여지가 없어 조정이 드물다.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891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1F3864"/>
                </a:solidFill>
                <a:latin typeface="맑은 고딕"/>
              </a:rPr>
              <a:t>내용정보와 결정등급은 같은 값이라 서로를 설명하지 못한다.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1F3864"/>
                </a:solidFill>
                <a:latin typeface="맑은 고딕"/>
              </a:rPr>
              <a:t>이 12.2% 구간이 자료에서 심의 판단을 확인할 수 있는 유일한 영역이다.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맑은 고딕"/>
              </a:rPr>
              <a:t>5. 매체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1F3864"/>
                </a:solidFill>
                <a:latin typeface="맑은 고딕"/>
              </a:rPr>
              <a:t>같은 조건에서 비교하면 게임물이 더 엄격하다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4552" cy="320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b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6675120" cy="36156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55279" y="1463040"/>
            <a:ext cx="3840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F2328"/>
                </a:solidFill>
                <a:latin typeface="맑은 고딕"/>
              </a:rPr>
              <a:t>명칭이 같은 4개 항목의 보유 조합이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F2328"/>
                </a:solidFill>
                <a:latin typeface="맑은 고딕"/>
              </a:rPr>
              <a:t>완전히 같은 건끼리 비교하였다.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F2328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F2328"/>
                </a:solidFill>
                <a:latin typeface="맑은 고딕"/>
              </a:rPr>
              <a:t>비교 가능한 10개 조합 전부에서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F2328"/>
                </a:solidFill>
                <a:latin typeface="맑은 고딕"/>
              </a:rPr>
              <a:t>게임물의 제한 비율이 높다.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F2328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F2328"/>
                </a:solidFill>
                <a:latin typeface="맑은 고딕"/>
              </a:rPr>
              <a:t>평균 차이 +15.1%p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03520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1F2328"/>
                </a:solidFill>
                <a:latin typeface="맑은 고딕"/>
              </a:rPr>
              <a:t>한계: 영상물의 5단계를 게임물의 보유·미보유에 맞추려면 어딘가에서 잘라야 하는데, 그 지점은 데이터로 정해지지 않는다. 3단계로 자르면 위와 같고, 4단계로 자르면 영상물이 정의상 100%가 되어 비교 자체가 성립하지 않는다.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1F2328"/>
                </a:solidFill>
                <a:latin typeface="맑은 고딕"/>
              </a:rPr>
              <a:t>따라서 '게임물이 더 엄격하다'는 문장은 절단 기준을 함께 적어야만 쓸 수 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맑은 고딕"/>
              </a:rPr>
              <a:t>5. 매체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1F3864"/>
                </a:solidFill>
                <a:latin typeface="맑은 고딕"/>
              </a:rPr>
              <a:t>청소년 이용 제한 콘텐츠의 특성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4552" cy="320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38" cy="22128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06239"/>
                <a:gridCol w="2377440"/>
                <a:gridCol w="2377440"/>
                <a:gridCol w="2103119"/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1">
                          <a:solidFill>
                            <a:srgbClr val="1F3864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1">
                          <a:solidFill>
                            <a:srgbClr val="1F3864"/>
                          </a:solidFill>
                          <a:latin typeface="맑은 고딕"/>
                        </a:rPr>
                        <a:t>건수</a:t>
                      </a:r>
                    </a:p>
                  </a:txBody>
                  <a:tcPr marL="91440" marR="91440" marT="45720" marB="4572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1">
                          <a:solidFill>
                            <a:srgbClr val="1F3864"/>
                          </a:solidFill>
                          <a:latin typeface="맑은 고딕"/>
                        </a:rPr>
                        <a:t>제한 건수</a:t>
                      </a:r>
                    </a:p>
                  </a:txBody>
                  <a:tcPr marL="91440" marR="91440" marT="45720" marB="4572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1">
                          <a:solidFill>
                            <a:srgbClr val="1F3864"/>
                          </a:solidFill>
                          <a:latin typeface="맑은 고딕"/>
                        </a:rPr>
                        <a:t>비율</a:t>
                      </a:r>
                    </a:p>
                  </a:txBody>
                  <a:tcPr marL="91440" marR="91440" marT="45720" marB="45720">
                    <a:solidFill>
                      <a:srgbClr val="EEF1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</a:rPr>
                        <a:t>게임물 · 위원회 심의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</a:rPr>
                        <a:t>29,417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</a:rPr>
                        <a:t>8,740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</a:rPr>
                        <a:t>29.7%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</a:rPr>
                        <a:t>게임물 · 자체등급분류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</a:rPr>
                        <a:t>76,409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</a:rPr>
                        <a:t>83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</a:rPr>
                        <a:t>0.11%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</a:rPr>
                        <a:t>영상물 · 전체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</a:rPr>
                        <a:t>134,464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</a:rPr>
                        <a:t>58,816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</a:rPr>
                        <a:t>43.7%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</a:rPr>
                        <a:t>영상물 · 성인물 제외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</a:rPr>
                        <a:t>84,723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</a:rPr>
                        <a:t>9,076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</a:rPr>
                        <a:t>10.7%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11480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1F2328"/>
                </a:solidFill>
                <a:latin typeface="맑은 고딕"/>
              </a:rPr>
              <a:t>· 영상물의 43.7%는 성인물에 기인한다. 성인물은 내용정보와 무관하게 사실상 전건이 청소년관람불가여서, 제외하면 10.7%로 낮아진다. 종별을 통제하지 않으면 결론이 뒤집힌다.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1F2328"/>
                </a:solidFill>
                <a:latin typeface="맑은 고딕"/>
              </a:rPr>
              <a:t>· 게임물에서 청소년 이용 제한이 가장 많은 장르는 보드게임(베팅성)으로 99.7%이며, 플랫폼에서는 온라인 게임이 74.9%로 가장 높다. 둘 다 웹보드 게임이 몰려 있는 영역이다.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1F2328"/>
                </a:solidFill>
                <a:latin typeface="맑은 고딕"/>
              </a:rPr>
              <a:t>· 자체등급분류의 청소년이용불가 83건은 제도상 사업자가 부여할 수 없는 등급이므로, 사후에 등급이 조정된 결과로 해석하였다.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맑은 고딕"/>
              </a:rPr>
              <a:t>6. 산출물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1F3864"/>
                </a:solidFill>
                <a:latin typeface="맑은 고딕"/>
              </a:rPr>
              <a:t>산출물 5종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4552" cy="320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64240" cy="27614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1828800"/>
                <a:gridCol w="5943600"/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1F3864"/>
                          </a:solidFill>
                          <a:latin typeface="맑은 고딕"/>
                        </a:rPr>
                        <a:t>산출물</a:t>
                      </a:r>
                    </a:p>
                  </a:txBody>
                  <a:tcPr marL="91440" marR="91440" marT="45720" marB="4572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1F3864"/>
                          </a:solidFill>
                          <a:latin typeface="맑은 고딕"/>
                        </a:rPr>
                        <a:t>형태</a:t>
                      </a:r>
                    </a:p>
                  </a:txBody>
                  <a:tcPr marL="91440" marR="91440" marT="45720" marB="4572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1F3864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91440" marR="91440" marT="45720" marB="45720">
                    <a:solidFill>
                      <a:srgbClr val="EEF1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① 통합 분석 Dataset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parquet · csv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게임물·영상물 240,290행 × 35열, 데이터 사전 포함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② 연령등급·내용정보 EDA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HTML 2종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영상물·게임물 각각의 현황 분석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③ 청소년 이용 제한 특성 분석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HTML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규모·추이·분포·항목·조합·자체등급분류 6개 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④ 인터랙티브 대시보드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공개 URL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Streamlit · Plotly 6개 화면, 조건 변경 조회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⑤ 주요 분석 인사이트 리포트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HTML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결론 3가지를 한 편으로 정리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4805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1F3864"/>
                </a:solidFill>
                <a:latin typeface="맑은 고딕"/>
              </a:rPr>
              <a:t>https://rating-analysis-260910.streamlit.app/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1F2328"/>
                </a:solidFill>
                <a:latin typeface="맑은 고딕"/>
              </a:rPr>
              <a:t>모든 산출물은 스크립트로 재생성된다. 원자료가 갱신되면 수치가 자동으로 따라가며, 리포트와 대시보드가 서로 다른 숫자를 말하지 않도록 계산부를 한 곳에 두었다.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1F2328"/>
                </a:solidFill>
                <a:latin typeface="맑은 고딕"/>
              </a:rPr>
              <a:t>이 발표자료도 같은 요약 파일에서 수치를 읽어 만든다.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맑은 고딕"/>
              </a:rPr>
              <a:t>6. 산출물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1F3864"/>
                </a:solidFill>
                <a:latin typeface="맑은 고딕"/>
              </a:rPr>
              <a:t>대시보드: 화면 하나가 질문 하나에 답한다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4552" cy="320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589520" cy="4209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463040"/>
            <a:ext cx="3383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1F2328"/>
                </a:solidFill>
                <a:latin typeface="맑은 고딕"/>
              </a:rPr>
              <a:t>① 등급 결정 기준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1F2328"/>
                </a:solidFill>
                <a:latin typeface="맑은 고딕"/>
              </a:rPr>
              <a:t>② 등급 상향 요인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1F2328"/>
                </a:solidFill>
                <a:latin typeface="맑은 고딕"/>
              </a:rPr>
              <a:t>③ 신청등급 대비 조정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1F2328"/>
                </a:solidFill>
                <a:latin typeface="맑은 고딕"/>
              </a:rPr>
              <a:t>④ 매체 간 판정 차이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1F2328"/>
                </a:solidFill>
                <a:latin typeface="맑은 고딕"/>
              </a:rPr>
              <a:t>⑤ 공개 데이터 포괄 범위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1F2328"/>
                </a:solidFill>
                <a:latin typeface="맑은 고딕"/>
              </a:rPr>
              <a:t>⑥ 개별 건 조회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1F2328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1F2328"/>
                </a:solidFill>
                <a:latin typeface="맑은 고딕"/>
              </a:rPr>
              <a:t>공통 필터: 기간 · 영상물 종별 ·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1F2328"/>
                </a:solidFill>
                <a:latin typeface="맑은 고딕"/>
              </a:rPr>
              <a:t>게임물 플랫폼 · 성인물 제외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1F2328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1F2328"/>
                </a:solidFill>
                <a:latin typeface="맑은 고딕"/>
              </a:rPr>
              <a:t>필터를 바꾸면 화면의 해석 문장도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1F2328"/>
                </a:solidFill>
                <a:latin typeface="맑은 고딕"/>
              </a:rPr>
              <a:t>다시 계산된다.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1F3864"/>
                </a:solidFill>
                <a:latin typeface="맑은 고딕"/>
              </a:rPr>
              <a:t>https://rating-analysis-260910.streamlit.app/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맑은 고딕"/>
              </a:rPr>
              <a:t>7. 한계와 배운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1F3864"/>
                </a:solidFill>
                <a:latin typeface="맑은 고딕"/>
              </a:rPr>
              <a:t>한계와 후속 과제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4552" cy="320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64239" cy="32186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8869679"/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1F3864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1F3864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91440" marR="91440" marT="45720" marB="45720">
                    <a:solidFill>
                      <a:srgbClr val="EEF1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표본의 범위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게임물 결과는 위원회가 직접 심의한 분류분에 한정된다. 공개 API 로 확인되는 범위는 전체의 0.27%다.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표본 구성 편중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영상물은 성인물이 37%를 차지하며, 성인물은 내용정보와 무관하게 대부분 청소년관람불가다.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이진화 기준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매체 비교는 영상물을 3단계에서 자른 기준 위에서만 성립한다. 절단 지점은 데이터로 정해지지 않는다.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비교군 자료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자체등급분류 비교군은 약 7주치가 전부이고 재수집이 불가능하여 추세 분석에 쓸 수 없다.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후속 과제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두 자료 모두 서술형 설명 필드를 갖고 있다. 게임물 개요는 97.4%, 영상물 작품 내용은 2018년 이후 100% 기록되어 있어 다음 분석의 재료가 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맑은 고딕"/>
              </a:rPr>
              <a:t>7. 한계와 배운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1F3864"/>
                </a:solidFill>
                <a:latin typeface="맑은 고딕"/>
              </a:rPr>
              <a:t>폐기한 결론 두 가지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4552" cy="320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1F2328"/>
                </a:solidFill>
                <a:latin typeface="맑은 고딕"/>
              </a:rPr>
              <a:t>분석 도중 결과가 뒤집혀 폐기한 것이 둘 있다. 과정에서 가장 많이 배운 부분이다.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011680"/>
          <a:ext cx="11064239" cy="24871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06239"/>
                <a:gridCol w="6858000"/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1F3864"/>
                          </a:solidFill>
                          <a:latin typeface="맑은 고딕"/>
                        </a:rPr>
                        <a:t>폐기한 결론</a:t>
                      </a:r>
                    </a:p>
                  </a:txBody>
                  <a:tcPr marL="91440" marR="91440" marT="45720" marB="4572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1F3864"/>
                          </a:solidFill>
                          <a:latin typeface="맑은 고딕"/>
                        </a:rPr>
                        <a:t>왜 틀렸는가</a:t>
                      </a:r>
                    </a:p>
                  </a:txBody>
                  <a:tcPr marL="91440" marR="91440" marT="45720" marB="45720">
                    <a:solidFill>
                      <a:srgbClr val="EEF1F6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내용정보로 등급을 설명할 수 있다</a:t>
                      </a:r>
                    </a:p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(회귀분석 AUC 1.000)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모형이 좋았던 것이 아니라 등급이 곧 내용정보의 최고값이어서 같은 값을 두 번 쓴 것이었다. 교차표를 찍어 보고 나서야 항등식임을 확인했다.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항목이 여러 개 겹칠수록 등급이 올라간다</a:t>
                      </a:r>
                    </a:p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(개수 4개 93.4% → 5개 71.5%로 꺾임)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맑은 고딕"/>
                        </a:rPr>
                        <a:t>성인물이 특정 구간에 몰려 생긴 착시였다. 성인물을 제외하니 꺾임이 사라지고 단조 증가로 바뀌었다. 종별을 통제하지 않은 것이 원인이다.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0292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1">
                <a:solidFill>
                  <a:srgbClr val="1F3864"/>
                </a:solidFill>
                <a:latin typeface="맑은 고딕"/>
              </a:rPr>
              <a:t>배운 것: 결과가 지나치게 깨끗하면 모형이 아니라 데이터 구조를 먼저 의심해야 한다. 그리고 비율을 비교하기 전에 그 비율을 만든 집단의 구성을 먼저 맞춰야 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1F3864"/>
                </a:solidFill>
                <a:latin typeface="맑은 고딕"/>
              </a:rPr>
              <a:t>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11274552" cy="320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spcAft>
                <a:spcPts val="600"/>
              </a:spcAft>
            </a:pPr>
            <a:r>
              <a:rPr sz="1700" b="0">
                <a:solidFill>
                  <a:srgbClr val="1F2328"/>
                </a:solidFill>
                <a:latin typeface="맑은 고딕"/>
              </a:rPr>
              <a:t>1.  게임물의 청소년이용불가를 결정하는 것은 폭력성이나 선정성이 아니라 사행성이다.</a:t>
            </a:r>
          </a:p>
          <a:p>
            <a:pPr algn="l">
              <a:lnSpc>
                <a:spcPct val="160000"/>
              </a:lnSpc>
              <a:spcAft>
                <a:spcPts val="600"/>
              </a:spcAft>
            </a:pPr>
            <a:r>
              <a:rPr sz="1700" b="0">
                <a:solidFill>
                  <a:srgbClr val="1F2328"/>
                </a:solidFill>
                <a:latin typeface="맑은 고딕"/>
              </a:rPr>
              <a:t>2.  다만 공개 데이터로 확인할 수 있는 범위는 게임물 등급분류 전체의 0.27%다.</a:t>
            </a:r>
          </a:p>
          <a:p>
            <a:pPr algn="l">
              <a:lnSpc>
                <a:spcPct val="160000"/>
              </a:lnSpc>
              <a:spcAft>
                <a:spcPts val="600"/>
              </a:spcAft>
            </a:pPr>
            <a:r>
              <a:rPr sz="1700" b="0">
                <a:solidFill>
                  <a:srgbClr val="1F2328"/>
                </a:solidFill>
                <a:latin typeface="맑은 고딕"/>
              </a:rPr>
              <a:t>3.  영상물의 등급은 내용정보의 최고값과 동일하며, 판단이 개입하는 영역은 12.2%뿐이다.</a:t>
            </a:r>
          </a:p>
          <a:p>
            <a:pPr algn="l">
              <a:lnSpc>
                <a:spcPct val="160000"/>
              </a:lnSpc>
              <a:spcAft>
                <a:spcPts val="600"/>
              </a:spcAft>
            </a:pPr>
            <a:r>
              <a:rPr sz="1700" b="0">
                <a:solidFill>
                  <a:srgbClr val="1F2328"/>
                </a:solidFill>
                <a:latin typeface="맑은 고딕"/>
              </a:rPr>
              <a:t>4.  같은 조건에서 비교하면 게임물의 판정이 더 엄격하다. 단 절단 기준을 전제로 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06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1F3864"/>
                </a:solidFill>
                <a:latin typeface="맑은 고딕"/>
              </a:rPr>
              <a:t>산출물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663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1F2328"/>
                </a:solidFill>
                <a:latin typeface="맑은 고딕"/>
              </a:rPr>
              <a:t>대시보드 https://rating-analysis-260910.streamlit.app/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1F2328"/>
                </a:solidFill>
                <a:latin typeface="맑은 고딕"/>
              </a:rPr>
              <a:t>통합 Dataset · EDA 2종 · 청소년 이용 제한 특성 분석 · 인사이트 리포트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  <a:latin typeface="맑은 고딕"/>
              </a:rPr>
              <a:t>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