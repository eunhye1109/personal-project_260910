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82286" autoAdjust="0"/>
  </p:normalViewPr>
  <p:slideViewPr>
    <p:cSldViewPr snapToGrid="0" snapToObjects="1">
      <p:cViewPr varScale="1">
        <p:scale>
          <a:sx n="103" d="100"/>
          <a:sy n="103" d="100"/>
        </p:scale>
        <p:origin x="792" y="11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31594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[대본]</a:t>
            </a:r>
          </a:p>
          <a:p>
            <a:r>
              <a:t>안녕하십니까. 게임물과 영상물의 등급분류 공공데이터를 분석한 개인 프로젝트를 발표하겠습니다.</a:t>
            </a:r>
          </a:p>
          <a:p>
            <a:r>
              <a:t>주제는 청소년 이용을 제한하는 등급이 무엇을 기준으로 결정되는지 확인하는 것입니다.</a:t>
            </a:r>
          </a:p>
          <a:p>
            <a:r>
              <a:t>두 기관이 공개하는 등급분류 결과 24만 290건을 전량 수집해 분석했습니다.</a:t>
            </a:r>
          </a:p>
          <a:p>
            <a:r>
              <a:t>발표는 10분 정도 걸리고, 마지막에 대시보드를 직접 열어 보여 드리겠습니다.</a:t>
            </a:r>
          </a:p>
          <a:p/>
          <a:p>
            <a:r>
              <a:t>[보충]</a:t>
            </a:r>
          </a:p>
          <a:p>
            <a:r>
              <a:t>· 24만 290건 = 영상물 134,464 + 게임물 위원회분류 29,417 + 게임물 자체등급분류 76,409</a:t>
            </a:r>
          </a:p>
          <a:p>
            <a:r>
              <a:t>· 자체등급분류는 분석 대상이 아니라 비교군입니다. 뒤에서 다시 설명합니다.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[대본]</a:t>
            </a:r>
          </a:p>
          <a:p>
            <a:r>
              <a:t>순서는 이렇습니다. 먼저 주제와 데이터를 말씀드리고, 결론 세 가지를 하나씩 근거와 함께 보여 드립니다.</a:t>
            </a:r>
          </a:p>
          <a:p>
            <a:r>
              <a:t>그다음 매체 비교 결과와 산출물을 소개하고, 한계와 폐기한 결론으로 마치겠습니다.</a:t>
            </a:r>
          </a:p>
          <a:p/>
          <a:p>
            <a:r>
              <a:t>[보충]</a:t>
            </a:r>
          </a:p>
          <a:p>
            <a:r>
              <a:t>· 30초 이내로 짧게 넘어갑니다.</a:t>
            </a:r>
          </a:p>
          <a:p>
            <a:r>
              <a:t>· 오른쪽 열의 숫자가 각 결론의 근거 수치입니다. 이 네 개만 기억하셔도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[대본]</a:t>
            </a:r>
          </a:p>
          <a:p>
            <a:r>
              <a:t>게임물은 게임물관리위원회가, 영상물은 영상물등급위원회가 등급을 매기고 그 결과를 공개합니다.</a:t>
            </a:r>
          </a:p>
          <a:p>
            <a:r>
              <a:t>두 자료 모두 공개돼 있지만, 한 표에 놓고 비교한 분석은 찾기 어려웠습니다.</a:t>
            </a:r>
          </a:p>
          <a:p>
            <a:r>
              <a:t>그래서 세 가지 질문을 세웠습니다. 등급은 무엇을 근거로 결정되는가, 매체에 따라 판정이 달라지는가,</a:t>
            </a:r>
          </a:p>
          <a:p>
            <a:r>
              <a:t>그리고 공개된 데이터로 게임물 전체를 말할 수 있는가입니다.</a:t>
            </a:r>
          </a:p>
          <a:p>
            <a:r>
              <a:t>통상 게임물 규제의 사유로는 폭력성과 선정성이 언급되는데, 분석 결과는 달랐습니다.</a:t>
            </a:r>
          </a:p>
          <a:p/>
          <a:p>
            <a:r>
              <a:t>[예상 질문]</a:t>
            </a:r>
          </a:p>
          <a:p>
            <a:r>
              <a:t>· 왜 이 주제인가 → 두 기관이 내용정보 항목의 이름을 상당 부분 같게 쓰고 있어 비교 가능성이 있었고,</a:t>
            </a:r>
          </a:p>
          <a:p>
            <a:r>
              <a:t>  실제로 비교한 선행 자료가 없었습니다.</a:t>
            </a:r>
          </a:p>
          <a:p>
            <a:r>
              <a:t>· 두 번째 질문은 강사님 피드백에서 나온 요구사항이기도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[대본]</a:t>
            </a:r>
          </a:p>
          <a:p>
            <a:r>
              <a:t>데이터는 표본이 아니라 전량입니다. 영상물 134,464건, 게임물 29,417건이고, 두 매체 모두</a:t>
            </a:r>
          </a:p>
          <a:p>
            <a:r>
              <a:t>기관이 제공하는 총 건수와 수집 건수가 정확히 일치합니다.</a:t>
            </a:r>
          </a:p>
          <a:p>
            <a:r>
              <a:t>세 번째 줄의 자체등급분류 76,409건은 이 프로젝트에서 수집한 것이 아니라 별도 업무에서 확보한 파일이고,</a:t>
            </a:r>
          </a:p>
          <a:p>
            <a:r>
              <a:t>약 7주치가 전부입니다. 그래서 추세 분석에는 쓰지 않고 규모 비교에만 사용했습니다.</a:t>
            </a:r>
          </a:p>
          <a:p>
            <a:r>
              <a:t>수집 과정에서 두 번 막혔습니다. 영상물은 9만 9천 건 지점부터 조회가 거부돼, 페이지 단위가 아니라</a:t>
            </a:r>
          </a:p>
          <a:p>
            <a:r>
              <a:t>기간 단위로 나눠 요청하는 방식으로 바꿔 전량을 받았습니다.</a:t>
            </a:r>
          </a:p>
          <a:p>
            <a:r>
              <a:t>게임물은 사무실 회선에서 기관 서버에 접속되지 않아 자택에서 수집했고, 순차 호출과 요청 상한 등</a:t>
            </a:r>
          </a:p>
          <a:p>
            <a:r>
              <a:t>안전장치를 걸고 월 단위로 나눠 받았습니다.</a:t>
            </a:r>
          </a:p>
          <a:p/>
          <a:p>
            <a:r>
              <a:t>[예상 질문]</a:t>
            </a:r>
          </a:p>
          <a:p>
            <a:r>
              <a:t>· 왜 집에서 수집했나 → 인증키 문제가 아니라 회선 문제였습니다. 다른 회선에서는 정상 수집되었습니다.</a:t>
            </a:r>
          </a:p>
          <a:p>
            <a:r>
              <a:t>· 수집이 정확한지 → 응답에 들어 있는 총 건수 값과 실제 수집 건수를 대조해 확인했습니다.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[대본]</a:t>
            </a:r>
          </a:p>
          <a:p>
            <a:r>
              <a:t>이 장이 분석의 전제입니다. 두 기관은 내용정보를 주는 방식이 다릅니다.</a:t>
            </a:r>
          </a:p>
          <a:p>
            <a:r>
              <a:t>영상물은 항목마다 1단계에서 5단계까지 수준을 주고, 게임물은 수준 없이 해당하는 항목의 이름만 줍니다.</a:t>
            </a:r>
          </a:p>
          <a:p>
            <a:r>
              <a:t>그래서 그대로는 비교가 되지 않습니다.</a:t>
            </a:r>
          </a:p>
          <a:p>
            <a:r>
              <a:t>통합은 명칭이 완전히 같은 네 개, 선정성·폭력성·공포·약물만 했습니다.</a:t>
            </a:r>
          </a:p>
          <a:p>
            <a:r>
              <a:t>대사와 언어처럼 비슷해 보이는 항목도 측정 대상이 달라 합치지 않았습니다. 합치면 없는 값을 만들게 됩니다.</a:t>
            </a:r>
          </a:p>
          <a:p>
            <a:r>
              <a:t>영상물의 5단계는 3단계 이상을 보유로 간주해 게임물 체계에 맞췄고, 원래 단계값도 함께 보관했습니다.</a:t>
            </a:r>
          </a:p>
          <a:p>
            <a:r>
              <a:t>이렇게 해서 비교에 쓸 수 있는 건이 154,328건입니다.</a:t>
            </a:r>
          </a:p>
          <a:p/>
          <a:p>
            <a:r>
              <a:t>[예상 질문]</a:t>
            </a:r>
          </a:p>
          <a:p>
            <a:r>
              <a:t>· 왜 3단계에서 잘랐나 → 4단계로 자르면 영상물은 4단계가 곧 청소년관람불가여서 정의상 100%가 나옵니다.</a:t>
            </a:r>
          </a:p>
          <a:p>
            <a:r>
              <a:t>  비교가 아니라 정의를 다시 보는 셈이 됩니다. 다만 3단계라는 기준 자체에 근거가 있는 것은 아니고,</a:t>
            </a:r>
          </a:p>
          <a:p>
            <a:r>
              <a:t>  이 한계는 12쪽에서 다시 말씀드립니다.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[대본]</a:t>
            </a:r>
          </a:p>
          <a:p>
            <a:r>
              <a:t>결론은 세 가지입니다.</a:t>
            </a:r>
          </a:p>
          <a:p>
            <a:r>
              <a:t>첫째, 게임물의 청소년이용불가를 결정하는 요인은 폭력성이나 선정성이 아니라 사행성입니다.</a:t>
            </a:r>
          </a:p>
          <a:p>
            <a:r>
              <a:t>청소년이용불가 게임물의 76.3%가 사행성을 갖고 있습니다.</a:t>
            </a:r>
          </a:p>
          <a:p>
            <a:r>
              <a:t>둘째, 그런데 위원회 심의 대상은 게임물 등급분류 전체의 0.27%에 불과합니다.</a:t>
            </a:r>
          </a:p>
          <a:p>
            <a:r>
              <a:t>셋째, 영상물의 등급은 내용정보 일곱 개 항목의 최고값과 사실상 같습니다. 일치율이 99.93%입니다.</a:t>
            </a:r>
          </a:p>
          <a:p>
            <a:r>
              <a:t>지금부터 하나씩 근거를 보여 드리겠습니다.</a:t>
            </a:r>
          </a:p>
          <a:p/>
          <a:p>
            <a:r>
              <a:t>[보충]</a:t>
            </a:r>
          </a:p>
          <a:p>
            <a:r>
              <a:t>· 세 결론은 순서대로 이어집니다. 1번이 '게임 규제의 실질이 무엇인가', 2번이 '그 이야기가 게임물</a:t>
            </a:r>
          </a:p>
          <a:p>
            <a:r>
              <a:t>  전체에 해당하는가', 3번이 '영상물은 구조 자체가 다르다'입니다.</a:t>
            </a:r>
          </a:p>
          <a:p>
            <a:r>
              <a:t>· 하나만 기억하신다면 결론 1입니다.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[대본]</a:t>
            </a:r>
          </a:p>
          <a:p>
            <a:r>
              <a:t>청소년이용불가를 받은 게임물 8,223건이 실제로 어떤 내용정보를 갖고 있었는지 센 결과입니다.</a:t>
            </a:r>
          </a:p>
          <a:p>
            <a:r>
              <a:t>사행성이 76.3%로 가장 많고, 폭력성 18.3%, 선정성 17.0%입니다. 한 건이 여러 항목을 가질 수 있어</a:t>
            </a:r>
          </a:p>
          <a:p>
            <a:r>
              <a:t>합계는 100%를 넘습니다.</a:t>
            </a:r>
          </a:p>
          <a:p>
            <a:r>
              <a:t>아래 줄이 더 중요합니다. 사행성이 부여된 게임물은 95.3%가 청소년이용불가이고, 없으면 8.9%입니다.</a:t>
            </a:r>
          </a:p>
          <a:p>
            <a:r>
              <a:t>다른 어떤 항목에서도 이만한 차이는 나오지 않습니다.</a:t>
            </a:r>
          </a:p>
          <a:p/>
          <a:p>
            <a:r>
              <a:t>[보충]</a:t>
            </a:r>
          </a:p>
          <a:p>
            <a:r>
              <a:t>· 사행성은 베팅 요소를 말하며, 웹보드 게임인 고스톱·포커류가 여기 해당합니다.</a:t>
            </a:r>
          </a:p>
          <a:p>
            <a:r>
              <a:t>· 8,223건은 등급취소 건을 제외한 수치입니다.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[대본]</a:t>
            </a:r>
          </a:p>
          <a:p>
            <a:r>
              <a:t>앞 장이 '청불 게임물이 무엇을 갖고 있었나'였다면, 이 장은 반대 방향입니다.</a:t>
            </a:r>
          </a:p>
          <a:p>
            <a:r>
              <a:t>그 항목 하나만 가진 게임물이 어떤 등급을 받았는지 본 것입니다.</a:t>
            </a:r>
          </a:p>
          <a:p>
            <a:r>
              <a:t>사행성만 있는 경우 97.1%가 청소년이용불가인데, 폭력성만 있는 경우는 11.1%입니다.</a:t>
            </a:r>
          </a:p>
          <a:p>
            <a:r>
              <a:t>같은 '항목 하나'인데 결과가 전혀 다릅니다.</a:t>
            </a:r>
          </a:p>
          <a:p>
            <a:r>
              <a:t>즉 게임물은 수준이 올라가서 등급이 올라가는 구조가 아니라, 어떤 항목이 붙었는지로 갈리는 구조입니다.</a:t>
            </a:r>
          </a:p>
          <a:p>
            <a:r>
              <a:t>참고로 내용정보가 비어 있는 13,993건은 청소년이용불가 비율이 0.06%였습니다.</a:t>
            </a:r>
          </a:p>
          <a:p>
            <a:r>
              <a:t>기록을 빠뜨린 것이 아니라 실제로 해당 요소가 없는 것으로 판단했습니다.</a:t>
            </a:r>
          </a:p>
          <a:p/>
          <a:p>
            <a:r>
              <a:t>[예상 질문]</a:t>
            </a:r>
          </a:p>
          <a:p>
            <a:r>
              <a:t>· 단독 보유 건이 적지 않나 → 사행성 단독 6,093건, 폭력성 단독 4,683건, 선정성 단독 906건으로</a:t>
            </a:r>
          </a:p>
          <a:p>
            <a:r>
              <a:t>  비교에 충분한 규모입니다.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[대본]</a:t>
            </a:r>
          </a:p>
          <a:p>
            <a:r>
              <a:t>여기서 조건을 하나 붙여야 합니다. 앞의 결론은 위원회가 직접 심의한 게임물 이야기입니다.</a:t>
            </a:r>
          </a:p>
          <a:p>
            <a:r>
              <a:t>게임물 등급분류는 두 경로로 이뤄집니다. 위원회 심의와, 구글·애플 같은 사업자의 자체등급분류입니다.</a:t>
            </a:r>
          </a:p>
          <a:p>
            <a:r>
              <a:t>같은 기간으로 맞춰 보면 위원회 207건, 자체등급분류 76,409건으로 약 369배 차이입니다.</a:t>
            </a:r>
          </a:p>
          <a:p>
            <a:r>
              <a:t>공개 API로 볼 수 있는 범위는 전체의 0.27%뿐입니다.</a:t>
            </a:r>
          </a:p>
          <a:p>
            <a:r>
              <a:t>19년간의 위원회 분류 건수보다 7주간의 자체등급분류 건수가 더 많습니다.</a:t>
            </a:r>
          </a:p>
          <a:p>
            <a:r>
              <a:t>다만 이 차이를 심의가 느슨하다는 뜻으로 읽으면 안 됩니다. 자체등급분류에는 사행성 게임물이</a:t>
            </a:r>
          </a:p>
          <a:p>
            <a:r>
              <a:t>사실상 없습니다. 보유율이 0.05% 대 23.2%로, 애초에 들어오는 게임물이 다릅니다.</a:t>
            </a:r>
          </a:p>
          <a:p/>
          <a:p>
            <a:r>
              <a:t>[예상 질문]</a:t>
            </a:r>
          </a:p>
          <a:p>
            <a:r>
              <a:t>· 그럼 결론 1은 의미가 없나 → 아닙니다. '위원회가 직접 심의한 게임물'이라는 조건을 반드시 붙여야</a:t>
            </a:r>
          </a:p>
          <a:p>
            <a:r>
              <a:t>  한다는 뜻이고, 그 조건을 대시보드와 리포트에 모두 적어 두었습니다.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[대본]</a:t>
            </a:r>
          </a:p>
          <a:p>
            <a:r>
              <a:t>영상물은 구조가 아예 다릅니다. 항목마다 1단계에서 5단계까지 수준이 있으니,</a:t>
            </a:r>
          </a:p>
          <a:p>
            <a:r>
              <a:t>그 최고값과 실제 등급이 어떤 관계인지 보는 것이 자연스러운 분석입니다.</a:t>
            </a:r>
          </a:p>
          <a:p>
            <a:r>
              <a:t>그런데 관계가 아니라 항등식이었습니다. 최고값이 1단계면 전체관람가, 2단계면 12세,</a:t>
            </a:r>
          </a:p>
          <a:p>
            <a:r>
              <a:t>4단계면 청소년관람불가로 그대로 대응됩니다. 134,462건 중 134,364건, 99.93%가 이 규칙에 맞고,</a:t>
            </a:r>
          </a:p>
          <a:p>
            <a:r>
              <a:t>표기 체계가 바뀐 2017년 5월 이후 94,516건에서는 예외가 하나도 없습니다.</a:t>
            </a:r>
          </a:p>
          <a:p>
            <a:r>
              <a:t>즉 등급은 계산해서 나온 값이 아니라 최고값을 옮겨 적은 값입니다.</a:t>
            </a:r>
          </a:p>
          <a:p>
            <a:r>
              <a:t>그래서 내용정보로 등급을 설명하는 분석은 성립하지 않습니다. 같은 값을 두 번 쓰는 것이기 때문입니다.</a:t>
            </a:r>
          </a:p>
          <a:p/>
          <a:p>
            <a:r>
              <a:t>[보충]</a:t>
            </a:r>
          </a:p>
          <a:p>
            <a:r>
              <a:t>· 실제로 내용정보로 등급을 예측하는 회귀분석을 돌렸더니 AUC가 1.000이 나왔습니다.</a:t>
            </a:r>
          </a:p>
          <a:p>
            <a:r>
              <a:t>  모형이 좋아서가 아니라 정답을 그대로 입력한 결과였습니다.</a:t>
            </a:r>
          </a:p>
          <a:p>
            <a:r>
              <a:t>· AUC는 1에 가까울수록 잘 맞힌다는 지표인데, 1.000은 현실 데이터에서 나올 수 없는 값이라</a:t>
            </a:r>
          </a:p>
          <a:p>
            <a:r>
              <a:t>  의심해야 하는 신호입니다.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[대본]</a:t>
            </a:r>
          </a:p>
          <a:p>
            <a:r>
              <a:t>그러면 이 자료에서 심의 판단은 어디에 남아 있는가. 신청등급입니다.</a:t>
            </a:r>
          </a:p>
          <a:p>
            <a:r>
              <a:t>신청등급은 신청인이 스스로 판단해 적어 낸 값이라 결정등급과 같은 값이 아닙니다.</a:t>
            </a:r>
          </a:p>
          <a:p>
            <a:r>
              <a:t>전체 건 중 12.2%에서 조정이 일어났고, 상향이 8.6%, 하향이 3.6%입니다.</a:t>
            </a:r>
          </a:p>
          <a:p>
            <a:r>
              <a:t>특히 12세로 신청한 건의 28.2%가 상향됐습니다. 신청인이 등급을 가장 낮게 예측하는 구간입니다.</a:t>
            </a:r>
          </a:p>
          <a:p>
            <a:r>
              <a:t>반대로 청소년관람불가로 신청하면 더 올라갈 자리가 없어 조정이 드뭅니다.</a:t>
            </a:r>
          </a:p>
          <a:p>
            <a:r>
              <a:t>결국 이 12.2% 구간이 자료에서 심의 판단을 확인할 수 있는 유일한 영역입니다.</a:t>
            </a:r>
          </a:p>
          <a:p/>
          <a:p>
            <a:r>
              <a:t>[예상 질문]</a:t>
            </a:r>
          </a:p>
          <a:p>
            <a:r>
              <a:t>· 상향을 모형으로 설명해 봤나 → 내용정보와 종별·연도로 상향 여부를 예측하면 AUC 0.825가 나왔습니다.</a:t>
            </a:r>
          </a:p>
          <a:p>
            <a:r>
              <a:t>  신청등급 자체는 변수로 넣지 않았습니다. 상향은 '최고값이 신청등급보다 높다'와 같은 말이어서</a:t>
            </a:r>
          </a:p>
          <a:p>
            <a:r>
              <a:t>  넣으면 다시 항등식이 되기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[대본]</a:t>
            </a:r>
          </a:p>
          <a:p>
            <a:r>
              <a:t>매체 비교입니다. 명칭이 같은 네 개 항목의 보유 조합이 완전히 같은 건끼리만 비교했습니다.</a:t>
            </a:r>
          </a:p>
          <a:p>
            <a:r>
              <a:t>예를 들어 선정성만 있는 건끼리, 폭력성과 공포가 함께 있는 건끼리 비교한 것입니다.</a:t>
            </a:r>
          </a:p>
          <a:p>
            <a:r>
              <a:t>비교 가능한 10개 조합 전부에서 게임물의 청소년 이용 제한 비율이 높았고, 평균 차이는 15.1%p입니다.</a:t>
            </a:r>
          </a:p>
          <a:p>
            <a:r>
              <a:t>다만 한계를 함께 말씀드려야 합니다. 영상물의 5단계를 게임물의 보유·미보유에 맞추려면</a:t>
            </a:r>
          </a:p>
          <a:p>
            <a:r>
              <a:t>어딘가에서 잘라야 하는데, 그 지점은 데이터가 정해 주지 않습니다.</a:t>
            </a:r>
          </a:p>
          <a:p>
            <a:r>
              <a:t>3단계로 자르면 지금 보시는 결과이고, 4단계로 자르면 영상물이 정의상 100%가 되어 비교가 성립하지 않습니다.</a:t>
            </a:r>
          </a:p>
          <a:p>
            <a:r>
              <a:t>그래서 '게임물이 더 엄격하다'는 결론은 절단 기준을 함께 적을 때만 쓸 수 있습니다.</a:t>
            </a:r>
          </a:p>
          <a:p/>
          <a:p>
            <a:r>
              <a:t>[예상 질문]</a:t>
            </a:r>
          </a:p>
          <a:p>
            <a:r>
              <a:t>· 왜 사행성은 비교에서 뺐나 → 영상물에 대응하는 항목이 없기 때문입니다. 남겨 두면 사행성 때문에</a:t>
            </a:r>
          </a:p>
          <a:p>
            <a:r>
              <a:t>  청불이 된 게임물이 '항목 없음' 칸에 섞여 결과가 뒤집힙니다. 영상물 쪽도 대칭으로</a:t>
            </a:r>
          </a:p>
          <a:p>
            <a:r>
              <a:t>  주제·대사·모방위험을 제외했습니다.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[대본]</a:t>
            </a:r>
          </a:p>
          <a:p>
            <a:r>
              <a:t>청소년 이용 제한 콘텐츠만 따로 떼어 정리한 결과입니다.</a:t>
            </a:r>
          </a:p>
          <a:p>
            <a:r>
              <a:t>표에서 가장 조심해야 할 숫자는 영상물 43.7%입니다. 이 값은 대부분 성인물이 만든 것이고,</a:t>
            </a:r>
          </a:p>
          <a:p>
            <a:r>
              <a:t>성인물을 빼면 10.7%로 내려갑니다. 종별을 통제하지 않으면 결론이 반대로 나올 수 있습니다.</a:t>
            </a:r>
          </a:p>
          <a:p>
            <a:r>
              <a:t>게임물에서는 보드게임 베팅성 장르가 99.7%로 가장 높고, 플랫폼에서는 온라인 게임이 74.9%입니다.</a:t>
            </a:r>
          </a:p>
          <a:p>
            <a:r>
              <a:t>둘 다 웹보드 게임이 몰려 있는 영역입니다.</a:t>
            </a:r>
          </a:p>
          <a:p>
            <a:r>
              <a:t>자체등급분류의 청소년이용불가 83건은, 제도상 사업자가 부여할 수 없는 등급입니다.</a:t>
            </a:r>
          </a:p>
          <a:p>
            <a:r>
              <a:t>따라서 사후에 등급이 조정된 결과로 해석했습니다.</a:t>
            </a:r>
          </a:p>
          <a:p/>
          <a:p>
            <a:r>
              <a:t>[보충]</a:t>
            </a:r>
          </a:p>
          <a:p>
            <a:r>
              <a:t>· 이 분석이 산출물 세 번째 항목인 '청소년 이용 제한 콘텐츠 주요 특성 분석'입니다.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[대본]</a:t>
            </a:r>
          </a:p>
          <a:p>
            <a:r>
              <a:t>산출물은 다섯 가지입니다. 통합 데이터셋, EDA 두 종, 청소년 이용 제한 특성 분석,</a:t>
            </a:r>
          </a:p>
          <a:p>
            <a:r>
              <a:t>대시보드, 그리고 인사이트 리포트입니다.</a:t>
            </a:r>
          </a:p>
          <a:p>
            <a:r>
              <a:t>강조하고 싶은 점은 손으로 옮겨 적은 숫자가 없다는 것입니다.</a:t>
            </a:r>
          </a:p>
          <a:p>
            <a:r>
              <a:t>리포트와 대시보드, 이 발표자료까지 모두 같은 계산 결과를 읽어 오도록 만들었습니다.</a:t>
            </a:r>
          </a:p>
          <a:p>
            <a:r>
              <a:t>원자료가 갱신되면 수치가 자동으로 따라갑니다.</a:t>
            </a:r>
          </a:p>
          <a:p/>
          <a:p>
            <a:r>
              <a:t>[예상 질문]</a:t>
            </a:r>
          </a:p>
          <a:p>
            <a:r>
              <a:t>· 데이터는 어디서 보나 → 통합 데이터셋은 parquet과 csv로 있고, 열 정의를 적은 데이터 사전을</a:t>
            </a:r>
          </a:p>
          <a:p>
            <a:r>
              <a:t>  HTML로 함께 만들어 두었습니다.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[대본]</a:t>
            </a:r>
          </a:p>
          <a:p>
            <a:r>
              <a:t>대시보드는 화면 하나가 분석 질문 하나에 답하도록 구성했습니다. 모두 여섯 화면입니다.</a:t>
            </a:r>
          </a:p>
          <a:p>
            <a:r>
              <a:t>왼쪽 필터로 기간, 영상물 종별, 게임물 플랫폼, 성인물 제외를 바꿀 수 있고,</a:t>
            </a:r>
          </a:p>
          <a:p>
            <a:r>
              <a:t>필터를 바꾸면 화면 위쪽의 해석 문장도 다시 계산됩니다.</a:t>
            </a:r>
          </a:p>
          <a:p>
            <a:r>
              <a:t>지금 직접 열어 보겠습니다.</a:t>
            </a:r>
          </a:p>
          <a:p/>
          <a:p>
            <a:r>
              <a:t>[시연 순서]</a:t>
            </a:r>
          </a:p>
          <a:p>
            <a:r>
              <a:t>1) 1번 화면에서 대각선만 채워진 교차표를 보여 줍니다. 결론 3의 근거입니다.</a:t>
            </a:r>
          </a:p>
          <a:p>
            <a:r>
              <a:t>2) 4번 화면으로 옮겨 이진화 기준을 4단계로 바꿉니다. 화면이 '이 기준으로는 비교가 성립하지 않는다'고</a:t>
            </a:r>
          </a:p>
          <a:p>
            <a:r>
              <a:t>   스스로 경고합니다. 한계를 화면에 박아 둔 것을 보여 주는 장면입니다.</a:t>
            </a:r>
          </a:p>
          <a:p/>
          <a:p>
            <a:r>
              <a:t>[주의]</a:t>
            </a:r>
          </a:p>
          <a:p>
            <a:r>
              <a:t>· 무료 요금제라 접속이 없으면 앱이 대기 상태로 들어갑니다. 발표 시작 전에 미리 한 번 열어 두십시오.</a:t>
            </a:r>
          </a:p>
          <a:p>
            <a:r>
              <a:t>  첫 접속은 십여 초 걸립니다.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[대본]</a:t>
            </a:r>
          </a:p>
          <a:p>
            <a:r>
              <a:t>한계는 네 가지입니다.</a:t>
            </a:r>
          </a:p>
          <a:p>
            <a:r>
              <a:t>첫째, 게임물 결과는 위원회가 직접 심의한 분류분에 한정됩니다. 공개 범위가 전체의 0.27%입니다.</a:t>
            </a:r>
          </a:p>
          <a:p>
            <a:r>
              <a:t>둘째, 영상물은 성인물이 37%를 차지해 종별을 통제하지 않으면 결론이 달라집니다.</a:t>
            </a:r>
          </a:p>
          <a:p>
            <a:r>
              <a:t>셋째, 매체 비교는 3단계 절단 기준 위에서만 성립합니다.</a:t>
            </a:r>
          </a:p>
          <a:p>
            <a:r>
              <a:t>넷째, 자체등급분류 비교군은 약 7주치가 전부이고 재수집이 불가능합니다.</a:t>
            </a:r>
          </a:p>
          <a:p>
            <a:r>
              <a:t>후속 과제로는 두 자료에 모두 들어 있는 서술형 설명 필드가 있습니다.</a:t>
            </a:r>
          </a:p>
          <a:p>
            <a:r>
              <a:t>게임물 개요는 97.4%, 영상물 작품 내용은 2018년 이후 100% 기록돼 있어 텍스트 분석으로 이어 갈 수 있습니다.</a:t>
            </a:r>
          </a:p>
          <a:p/>
          <a:p>
            <a:r>
              <a:t>[보충]</a:t>
            </a:r>
          </a:p>
          <a:p>
            <a:r>
              <a:t>· 첫 번째와 세 번째 한계는 결론을 인용할 때 반드시 따라붙어야 하는 조건입니다.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[대본]</a:t>
            </a:r>
          </a:p>
          <a:p>
            <a:r>
              <a:t>마지막으로, 분석 도중 폐기한 결론 두 가지를 말씀드리겠습니다. 가장 많이 배운 부분입니다.</a:t>
            </a:r>
          </a:p>
          <a:p>
            <a:r>
              <a:t>첫째는 내용정보로 등급을 설명할 수 있다는 결론입니다. 회귀분석에서 AUC가 1.000이 나왔는데,</a:t>
            </a:r>
          </a:p>
          <a:p>
            <a:r>
              <a:t>모형이 좋아서가 아니라 등급이 곧 내용정보의 최고값이어서 같은 값을 두 번 쓴 것이었습니다.</a:t>
            </a:r>
          </a:p>
          <a:p>
            <a:r>
              <a:t>교차표를 확인하고 나서야 항등식임을 알았습니다.</a:t>
            </a:r>
          </a:p>
          <a:p>
            <a:r>
              <a:t>둘째는 항목이 여러 개 겹칠수록 등급이 올라간다는 결론입니다. 항목 4개에서 93.4%였다가</a:t>
            </a:r>
          </a:p>
          <a:p>
            <a:r>
              <a:t>5개에서 71.5%로 꺾이는 결과가 나왔는데, 성인물이 특정 구간에 몰려 생긴 착시였습니다.</a:t>
            </a:r>
          </a:p>
          <a:p>
            <a:r>
              <a:t>성인물을 제외하니 꺾임이 사라지고 단조 증가로 바뀌었습니다.</a:t>
            </a:r>
          </a:p>
          <a:p>
            <a:r>
              <a:t>여기서 얻은 시사점은 두 가지입니다. 결과가 지나치게 정연하면 모형이 아니라 데이터 구조를 먼저</a:t>
            </a:r>
          </a:p>
          <a:p>
            <a:r>
              <a:t>의심해야 한다는 것, 그리고 비율을 비교하기 전에 대상 집단의 구성을 먼저 맞춰야 한다는 것입니다.</a:t>
            </a:r>
          </a:p>
          <a:p/>
          <a:p>
            <a:r>
              <a:t>[예상 질문]</a:t>
            </a:r>
          </a:p>
          <a:p>
            <a:r>
              <a:t>· 심슨의 역설이 무엇인가 → 전체를 합쳐서 보면 한 방향인데 집단을 나눠 보면 반대 방향이 나오는</a:t>
            </a:r>
          </a:p>
          <a:p>
            <a:r>
              <a:t>  현상입니다. 두 번째 사례가 여기 해당합니다.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[대본]</a:t>
            </a:r>
          </a:p>
          <a:p>
            <a:r>
              <a:t>정리하겠습니다.</a:t>
            </a:r>
          </a:p>
          <a:p>
            <a:r>
              <a:t>첫째, 게임물의 청소년이용불가를 결정하는 요인은 폭력성이나 선정성이 아니라 사행성입니다.</a:t>
            </a:r>
          </a:p>
          <a:p>
            <a:r>
              <a:t>둘째, 다만 공개 데이터로 확인할 수 있는 범위는 게임물 등급분류 전체의 0.27%입니다.</a:t>
            </a:r>
          </a:p>
          <a:p>
            <a:r>
              <a:t>셋째, 영상물의 등급은 내용정보의 최고값과 동일하며, 판단이 개입하는 영역은 12.2%뿐입니다.</a:t>
            </a:r>
          </a:p>
          <a:p>
            <a:r>
              <a:t>넷째, 같은 조건에서 비교하면 게임물의 판정이 더 엄격합니다. 단, 절단 기준을 전제로 합니다.</a:t>
            </a:r>
          </a:p>
          <a:p>
            <a:r>
              <a:t>산출물은 화면의 주소에서 모두 확인하실 수 있습니다. 감사합니다.</a:t>
            </a:r>
          </a:p>
          <a:p/>
          <a:p>
            <a:r>
              <a:t>[질의응답 대비]</a:t>
            </a:r>
          </a:p>
          <a:p>
            <a:r>
              <a:t>· 데이터는 어떻게 받았나 → 두 기관 공개 API로 전량 수집, 기관 제공 총 건수와 일치.</a:t>
            </a:r>
          </a:p>
          <a:p>
            <a:r>
              <a:t>· 실무에 어떻게 쓰나 → 등급분류 결과를 인용할 때 어느 경로의 분류분인지 함께 밝혀야 하고,</a:t>
            </a:r>
          </a:p>
          <a:p>
            <a:r>
              <a:t>  공개 데이터만으로 게임물 전체를 말할 수 없다는 점입니다.</a:t>
            </a:r>
          </a:p>
          <a:p>
            <a:r>
              <a:t>· 가장 어려웠던 점 → 수집보다, 결과가 지나치게 깨끗해서 의심해야 했던 지점들입니다.</a:t>
            </a:r>
          </a:p>
          <a:p>
            <a:r>
              <a:t>· 분석 기간 → 2026년 8월 31일 기획, 9월 14일 완료입니다.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iming>
    <p:tnLst>
      <p:par>
        <p:cTn id="1" dur="indefinite" restart="never" nodeType="tmRoot"/>
      </p:par>
    </p:tnLst>
  </p:timing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jpg"/><Relationship Id="rId4" Type="http://schemas.openxmlformats.org/officeDocument/2006/relationships/hyperlink" Target="https://rating-analysis-260910.streamlit.app/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2331720"/>
            <a:ext cx="2097522" cy="5486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20323" y="1937572"/>
            <a:ext cx="10058400" cy="3424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BI </a:t>
            </a:r>
            <a:r>
              <a:rPr sz="13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분석가</a:t>
            </a:r>
            <a:r>
              <a:rPr sz="13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과정</a:t>
            </a:r>
            <a:r>
              <a:rPr sz="13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개인</a:t>
            </a:r>
            <a:r>
              <a:rPr sz="13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프로젝트</a:t>
            </a:r>
            <a:endParaRPr sz="1300" b="0" dirty="0">
              <a:solidFill>
                <a:srgbClr val="6B7280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10515600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40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청소년</a:t>
            </a:r>
            <a:r>
              <a:rPr sz="40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40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이용</a:t>
            </a:r>
            <a:r>
              <a:rPr sz="40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40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제한</a:t>
            </a:r>
            <a:r>
              <a:rPr sz="40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40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등급은</a:t>
            </a:r>
            <a:endParaRPr sz="4000" b="1" dirty="0">
              <a:solidFill>
                <a:srgbClr val="1F3864"/>
              </a:solidFill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40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무엇을</a:t>
            </a:r>
            <a:r>
              <a:rPr sz="40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40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기준으로</a:t>
            </a:r>
            <a:r>
              <a:rPr sz="40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40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결정되는가</a:t>
            </a:r>
            <a:endParaRPr sz="4000" b="1" dirty="0">
              <a:solidFill>
                <a:srgbClr val="1F3864"/>
              </a:solidFill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10515600" cy="4193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게임물·영상물 등급분류 공공데이터 240,290건 전량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63274" y="5743925"/>
            <a:ext cx="3902062" cy="4385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b="1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2026. 09. 14.   </a:t>
            </a:r>
            <a:r>
              <a:rPr b="1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최은혜</a:t>
            </a:r>
            <a:endParaRPr b="1" dirty="0">
              <a:solidFill>
                <a:srgbClr val="6B7280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530352"/>
            <a:ext cx="11247120" cy="5474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발표</a:t>
            </a:r>
            <a:r>
              <a:rPr sz="26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순서</a:t>
            </a:r>
            <a:endParaRPr sz="2600" b="1" dirty="0">
              <a:solidFill>
                <a:srgbClr val="1F3864"/>
              </a:solidFill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4498266"/>
              </p:ext>
            </p:extLst>
          </p:nvPr>
        </p:nvGraphicFramePr>
        <p:xfrm>
          <a:off x="548640" y="1764792"/>
          <a:ext cx="11064240" cy="3328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140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373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28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1" dirty="0" err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순서</a:t>
                      </a:r>
                      <a:endParaRPr sz="1300" b="1" dirty="0">
                        <a:solidFill>
                          <a:srgbClr val="1F3864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1" dirty="0" err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내용</a:t>
                      </a:r>
                      <a:endParaRPr sz="1300" b="1" dirty="0">
                        <a:solidFill>
                          <a:srgbClr val="1F3864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1" dirty="0" err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핵심</a:t>
                      </a:r>
                      <a:r>
                        <a:rPr sz="1300" b="1" dirty="0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1" dirty="0" err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숫자</a:t>
                      </a:r>
                      <a:endParaRPr sz="1300" b="1" dirty="0">
                        <a:solidFill>
                          <a:srgbClr val="1F3864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1.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주제와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데이터</a:t>
                      </a:r>
                      <a:endParaRPr sz="130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왜 이 주제인가 · 무엇을 얼마나 모았는가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240,290건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2.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결론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1 ·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게임물</a:t>
                      </a:r>
                      <a:endParaRPr sz="130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청소년이용불가의 결정 요인은 사행성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76.3%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3. 결론 2 · 공개 범위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위원회 심의는 전체의 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0.27%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4. 결론 3 · 영상물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등급은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내용정보의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최고값과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동일</a:t>
                      </a:r>
                      <a:endParaRPr sz="130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99.93%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5. 매체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동일 조건에서 게임물이 더 엄격</a:t>
                      </a:r>
                      <a:endParaRPr sz="130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+15.1%p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6. 산출물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데이터셋·EDA·특성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분석·대시보드·리포트</a:t>
                      </a:r>
                      <a:endParaRPr sz="130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5종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7. 한계와 배운 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무엇을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못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했고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어떤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결론을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폐기했는가</a:t>
                      </a:r>
                      <a:endParaRPr sz="130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2건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폐기</a:t>
                      </a:r>
                      <a:endParaRPr sz="130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5486400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1.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주제와</a:t>
            </a: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데이터</a:t>
            </a:r>
            <a:endParaRPr sz="1100" b="0" dirty="0">
              <a:solidFill>
                <a:srgbClr val="6B7280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왜 이 </a:t>
            </a:r>
            <a:r>
              <a:rPr sz="2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주제인가</a:t>
            </a:r>
            <a:endParaRPr sz="2600" b="1" dirty="0">
              <a:solidFill>
                <a:srgbClr val="1F3864"/>
              </a:solidFill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6424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게임물과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영상물은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각각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다른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기관이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등급을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부여하고 그 결과를 공개함.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두 자료를 한 표에 놓고 비교한 분석은 찾기 어려움.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5959760"/>
              </p:ext>
            </p:extLst>
          </p:nvPr>
        </p:nvGraphicFramePr>
        <p:xfrm>
          <a:off x="548640" y="2743200"/>
          <a:ext cx="11064240" cy="189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1" dirty="0" err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분석</a:t>
                      </a:r>
                      <a:r>
                        <a:rPr sz="1300" b="1" dirty="0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1" dirty="0" err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질문</a:t>
                      </a:r>
                      <a:endParaRPr sz="1300" b="1" dirty="0">
                        <a:solidFill>
                          <a:srgbClr val="1F3864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확인 방법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청소년 이용을 제한하는 등급은 무엇을 근거로 결정되는가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등급과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내용정보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7개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항목의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대응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관계를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전량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교차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확인</a:t>
                      </a:r>
                      <a:endParaRPr sz="130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매체에 따라 판정이 달라지는가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명칭이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같은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4개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항목만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남겨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동일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조건에서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비교</a:t>
                      </a:r>
                      <a:endParaRPr sz="130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공개된 데이터로 '게임물 전체'를 말할 수 있는가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위원회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심의분과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사업자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자체등급분류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물량을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같은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기간으로</a:t>
                      </a:r>
                      <a:r>
                        <a:rPr sz="130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비교</a:t>
                      </a:r>
                      <a:endParaRPr sz="130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120640"/>
            <a:ext cx="11064240" cy="9194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2000" b="1" spc="-150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통상</a:t>
            </a:r>
            <a:r>
              <a:rPr sz="2000" b="1" spc="-150" dirty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2000" b="1" spc="-150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게임물</a:t>
            </a:r>
            <a:r>
              <a:rPr sz="2000" b="1" spc="-150" dirty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2000" b="1" spc="-150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규제의</a:t>
            </a:r>
            <a:r>
              <a:rPr sz="2000" b="1" spc="-150" dirty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2000" b="1" spc="-150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사유로 폭력성과 선정성이 언급되나,</a:t>
            </a:r>
            <a:endParaRPr lang="en-US" sz="2000" b="1" spc="-150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2000" b="1" spc="-150" dirty="0" err="1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분석 결과는 이와 상이함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69281" y="651316"/>
            <a:ext cx="615198" cy="5555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lang="en-US" sz="1600" b="1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16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lang="en-US" sz="2000" b="1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20</a:t>
            </a:r>
            <a:endParaRPr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5486400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1. 주제와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무엇을</a:t>
            </a:r>
            <a:r>
              <a:rPr sz="26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얼마나</a:t>
            </a:r>
            <a:r>
              <a:rPr sz="26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모았는가</a:t>
            </a:r>
            <a:endParaRPr sz="2600" b="1" dirty="0">
              <a:solidFill>
                <a:srgbClr val="1F3864"/>
              </a:solidFill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6950634"/>
              </p:ext>
            </p:extLst>
          </p:nvPr>
        </p:nvGraphicFramePr>
        <p:xfrm>
          <a:off x="548640" y="1463040"/>
          <a:ext cx="11064240" cy="22128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 dirty="0" err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구분</a:t>
                      </a:r>
                      <a:endParaRPr sz="1250" b="1" dirty="0">
                        <a:solidFill>
                          <a:srgbClr val="1F3864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출처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건수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기간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역할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영상물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영상물등급위원회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Open 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134,464건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2009~2026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분석 대상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게임물(위원회)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게임물관리위원회 Open API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29,417건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2007~2026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분석 대상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게임물(자체등급분류)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별도 업무에서 확보한 파일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76,409건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2026-07~08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비교군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통합 분석 Dataset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위 셋을 한 표로 통합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240,290행 × 35열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2007~2026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산출물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①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023360"/>
            <a:ext cx="11064240" cy="380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수집</a:t>
            </a:r>
            <a:r>
              <a:rPr sz="16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1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과정에서</a:t>
            </a:r>
            <a:r>
              <a:rPr sz="16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1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막혔던</a:t>
            </a:r>
            <a:r>
              <a:rPr sz="16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두 </a:t>
            </a:r>
            <a:r>
              <a:rPr sz="1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가지</a:t>
            </a:r>
            <a:endParaRPr sz="1600" b="1" dirty="0">
              <a:solidFill>
                <a:srgbClr val="1F3864"/>
              </a:solidFill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4480560"/>
            <a:ext cx="11064240" cy="1746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</a:t>
            </a:r>
            <a:r>
              <a:rPr sz="1400" b="1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영상물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: 약 99,000건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지점부터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조회 거부. 페이지 대신 기간을 나눠 요청하는 방식으로 전환하여 전량 확보</a:t>
            </a:r>
            <a:endParaRPr sz="1400" b="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</a:t>
            </a:r>
            <a:r>
              <a:rPr sz="1400" b="1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1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게임물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: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사무실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회선에서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기관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서버 접속 불가. 자택에서 수집 진행</a:t>
            </a:r>
            <a:endParaRPr lang="en-US" sz="1400" b="0" dirty="0" smtClean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lang="en-US" sz="140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lang="en-US" sz="140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            </a:t>
            </a:r>
            <a:r>
              <a:rPr sz="1400" b="0" dirty="0" err="1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순차</a:t>
            </a:r>
            <a:r>
              <a:rPr sz="140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호출·요청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상한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등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안전장치를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적용하여 월 단위로 분할 수집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endParaRPr lang="en-US" sz="1400" b="0" dirty="0" smtClean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두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매체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모두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기관 제공 총 건수와 수집 건수가 정확히 일치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69281" y="651316"/>
            <a:ext cx="615198" cy="5555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lang="en-US" sz="1600" b="1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16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lang="en-US" sz="2000" b="1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20</a:t>
            </a:r>
            <a:endParaRPr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5486400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1. 주제와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두 </a:t>
            </a:r>
            <a:r>
              <a:rPr sz="2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기관의</a:t>
            </a:r>
            <a:r>
              <a:rPr sz="26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자료를</a:t>
            </a:r>
            <a:r>
              <a:rPr sz="26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어떻게</a:t>
            </a:r>
            <a:r>
              <a:rPr sz="26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한 </a:t>
            </a:r>
            <a:r>
              <a:rPr sz="2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표로</a:t>
            </a:r>
            <a:r>
              <a:rPr sz="26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6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합쳤는가</a:t>
            </a:r>
            <a:endParaRPr sz="2600" b="1" dirty="0">
              <a:solidFill>
                <a:srgbClr val="1F3864"/>
              </a:solidFill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9702112"/>
              </p:ext>
            </p:extLst>
          </p:nvPr>
        </p:nvGraphicFramePr>
        <p:xfrm>
          <a:off x="548640" y="1463040"/>
          <a:ext cx="11064240" cy="24323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endParaRPr dirty="0"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영상물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게임물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내용정보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제공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형태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항목마다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1~5단계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수준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해당 항목의 이름만 나열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항목 구성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주제·선정성·폭력성·대사·공포·약물·모방위험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선정성·폭력성·공포·약물·언어·범죄·사행성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통합한 항목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선정성·폭력성·공포·약물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4개만 (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명칭이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동일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좌동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통합하지 않은 항목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주제·대사·모방위험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언어·범죄·사행성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297680"/>
            <a:ext cx="11829214" cy="1054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명칭이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같은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4개만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통합. 대사와 언어처럼 유사해 보이는 항목도 측정 대상이 달라 통합에서 제외</a:t>
            </a:r>
            <a:endParaRPr lang="en-US" sz="1400" b="0" dirty="0" smtClean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영상물의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1~5단계는 3단계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이상을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보유로 간주하여 게임물 체계에 대응. 원 단계값도 함께 보관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비교 가능한 건은 154,328건이며, 제외 대상은 삭제하지 않고 표시만 유지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69281" y="651316"/>
            <a:ext cx="615198" cy="5555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lang="en-US" sz="1600" b="1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16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lang="en-US" sz="2000" b="1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20</a:t>
            </a:r>
            <a:endParaRPr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530352"/>
            <a:ext cx="11247120" cy="5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결론 세 가지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1804703"/>
            <a:ext cx="10058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결론</a:t>
            </a:r>
            <a:r>
              <a:rPr sz="1200" b="1" dirty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749839"/>
            <a:ext cx="6035040" cy="765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 dirty="0" err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게임물의</a:t>
            </a:r>
            <a:r>
              <a:rPr sz="1550" b="1" dirty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1550" b="1" dirty="0" err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청소년이용불가를</a:t>
            </a:r>
            <a:r>
              <a:rPr sz="1550" b="1" dirty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1550" b="1" dirty="0" err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결정하는</a:t>
            </a:r>
            <a:r>
              <a:rPr sz="1550" b="1" dirty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1550" b="1" dirty="0" err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요인은</a:t>
            </a:r>
            <a:endParaRPr sz="1550" b="1" dirty="0">
              <a:solidFill>
                <a:srgbClr val="1F2328"/>
              </a:solidFill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 dirty="0" err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폭력성·선정성이 아닌 사행성</a:t>
            </a:r>
            <a:endParaRPr sz="1550" b="1" dirty="0">
              <a:solidFill>
                <a:srgbClr val="1F2328"/>
              </a:solidFill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863839" y="1749839"/>
            <a:ext cx="2011680" cy="669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76.3%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1846019"/>
            <a:ext cx="1828800" cy="5732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청소년이용불가 게임물 중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사행성 보유 비율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96343"/>
            <a:ext cx="10058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결론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441479"/>
            <a:ext cx="6035040" cy="765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단, 위원회 심의 대상은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게임물 등급분류 전체의 일부에 불과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39" y="3441479"/>
            <a:ext cx="2011680" cy="669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0.27%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3537659"/>
            <a:ext cx="1828800" cy="5732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같은 기간 위원회 심의가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차지하는 비중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87983"/>
            <a:ext cx="10058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결론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5133119"/>
            <a:ext cx="6035040" cy="765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영상물의 등급은 내용정보 7개 항목의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최고값과 사실상 동일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39" y="5133119"/>
            <a:ext cx="2011680" cy="669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99.93%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0" y="5229299"/>
            <a:ext cx="1828800" cy="5732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최고값과</a:t>
            </a:r>
            <a:r>
              <a:rPr sz="105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05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결정등급이</a:t>
            </a:r>
            <a:endParaRPr sz="1050" b="0" dirty="0">
              <a:solidFill>
                <a:srgbClr val="6B7280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일치하는</a:t>
            </a:r>
            <a:r>
              <a:rPr sz="105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05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비율</a:t>
            </a:r>
            <a:endParaRPr sz="1050" b="0" dirty="0">
              <a:solidFill>
                <a:srgbClr val="6B7280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2369281" y="651316"/>
            <a:ext cx="615198" cy="5555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lang="en-US" sz="1600" b="1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16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lang="en-US" sz="2000" b="1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20</a:t>
            </a:r>
            <a:endParaRPr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cxnSp>
        <p:nvCxnSpPr>
          <p:cNvPr id="18" name="직선 화살표 연결선 17"/>
          <p:cNvCxnSpPr>
            <a:endCxn id="5" idx="3"/>
          </p:cNvCxnSpPr>
          <p:nvPr/>
        </p:nvCxnSpPr>
        <p:spPr>
          <a:xfrm>
            <a:off x="4889241" y="2127868"/>
            <a:ext cx="2700279" cy="4768"/>
          </a:xfrm>
          <a:prstGeom prst="straightConnector1">
            <a:avLst/>
          </a:prstGeom>
          <a:ln>
            <a:solidFill>
              <a:schemeClr val="tx2">
                <a:lumMod val="50000"/>
              </a:schemeClr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/>
          <p:cNvCxnSpPr/>
          <p:nvPr/>
        </p:nvCxnSpPr>
        <p:spPr>
          <a:xfrm>
            <a:off x="4889241" y="3841768"/>
            <a:ext cx="2700279" cy="4768"/>
          </a:xfrm>
          <a:prstGeom prst="straightConnector1">
            <a:avLst/>
          </a:prstGeom>
          <a:ln>
            <a:solidFill>
              <a:schemeClr val="tx2">
                <a:lumMod val="50000"/>
              </a:schemeClr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/>
          <p:cNvCxnSpPr/>
          <p:nvPr/>
        </p:nvCxnSpPr>
        <p:spPr>
          <a:xfrm>
            <a:off x="4889241" y="5511814"/>
            <a:ext cx="2700279" cy="4768"/>
          </a:xfrm>
          <a:prstGeom prst="straightConnector1">
            <a:avLst/>
          </a:prstGeom>
          <a:ln>
            <a:solidFill>
              <a:schemeClr val="tx2">
                <a:lumMod val="50000"/>
              </a:schemeClr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5486400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2.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결론</a:t>
            </a: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1 ·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게임물</a:t>
            </a:r>
            <a:endParaRPr sz="1100" b="0" dirty="0">
              <a:solidFill>
                <a:srgbClr val="6B7280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청소년이용불가 게임물의 내용정보 구성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pic>
        <p:nvPicPr>
          <p:cNvPr id="5" name="Picture 4" descr="compo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16598"/>
            <a:ext cx="7852862" cy="37082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67126" y="1616598"/>
            <a:ext cx="4023360" cy="3077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청소년이용불가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게임물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8,223건 중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76.3%가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사행성 보유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sz="1600" b="0" spc="-15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폭력성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18.3</a:t>
            </a:r>
            <a:r>
              <a:rPr sz="1600" b="0" spc="-15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% · 선정성 17.0%와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b="0" spc="-150" dirty="0" err="1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뚜렷한 차이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sz="1600" b="0" spc="-15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한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건이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여러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항목을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보유할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수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있어</a:t>
            </a:r>
            <a:endParaRPr sz="1600" b="0" spc="-15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합계는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100%를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초과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633613"/>
            <a:ext cx="10972800" cy="442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20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사행성</a:t>
            </a:r>
            <a:r>
              <a:rPr sz="20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0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보유</a:t>
            </a:r>
            <a:r>
              <a:rPr sz="20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0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게임물의</a:t>
            </a:r>
            <a:r>
              <a:rPr sz="20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0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청소년이용불가</a:t>
            </a:r>
            <a:r>
              <a:rPr sz="20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0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비율</a:t>
            </a:r>
            <a:r>
              <a:rPr sz="20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95.3%   ·   </a:t>
            </a:r>
            <a:r>
              <a:rPr sz="20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미보유</a:t>
            </a:r>
            <a:r>
              <a:rPr sz="20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시 8.9%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69281" y="651316"/>
            <a:ext cx="615198" cy="5555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lang="en-US" sz="1600" b="1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16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lang="en-US" sz="2000" b="1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20</a:t>
            </a:r>
            <a:endParaRPr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5486400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2.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결론</a:t>
            </a: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1 ·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게임물</a:t>
            </a:r>
            <a:endParaRPr sz="1100" b="0" dirty="0">
              <a:solidFill>
                <a:srgbClr val="6B7280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단독 보유 건으로 좁혀도 동일한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pic>
        <p:nvPicPr>
          <p:cNvPr id="5" name="Picture 4" descr="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71600"/>
            <a:ext cx="6949440" cy="308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0" y="1554480"/>
            <a:ext cx="3931920" cy="30931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다른</a:t>
            </a:r>
            <a:r>
              <a:rPr sz="160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항목이</a:t>
            </a:r>
            <a:r>
              <a:rPr sz="160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혼재되지 않은 건만</a:t>
            </a:r>
            <a:endParaRPr sz="1600" spc="-15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선별하여 비교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sz="1600" spc="-15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사행성</a:t>
            </a:r>
            <a:r>
              <a:rPr sz="160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단독</a:t>
            </a:r>
            <a:r>
              <a:rPr sz="160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97.1%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선정성</a:t>
            </a:r>
            <a:r>
              <a:rPr sz="160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단독</a:t>
            </a:r>
            <a:r>
              <a:rPr sz="160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55.6%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폭력성</a:t>
            </a:r>
            <a:r>
              <a:rPr sz="160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단독</a:t>
            </a:r>
            <a:r>
              <a:rPr sz="160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11.1%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sz="1600" spc="-15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동일한 단독 보유임에도 결과는 상이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155313"/>
            <a:ext cx="10972800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2000" b="0" spc="-150" dirty="0" err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게임물은</a:t>
            </a:r>
            <a:r>
              <a:rPr sz="2000" b="0" spc="-150" dirty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000" b="0" spc="-150" dirty="0" err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수준 개념 없이 부여된 항목의 종류로 등급이 결정됨.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2000" b="0" spc="-150" dirty="0" err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내용정보가</a:t>
            </a:r>
            <a:r>
              <a:rPr sz="2000" b="0" spc="-150" dirty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000" b="0" spc="-150" dirty="0" err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비어</a:t>
            </a:r>
            <a:r>
              <a:rPr sz="2000" b="0" spc="-150" dirty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000" b="0" spc="-150" dirty="0" err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있는</a:t>
            </a:r>
            <a:r>
              <a:rPr sz="2000" b="0" spc="-150" dirty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13,993건의 </a:t>
            </a:r>
            <a:r>
              <a:rPr sz="2000" b="0" spc="-150" dirty="0" err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청소년이용불가</a:t>
            </a:r>
            <a:r>
              <a:rPr sz="2000" b="0" spc="-150" dirty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000" b="0" spc="-150" dirty="0" err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비율은</a:t>
            </a:r>
            <a:r>
              <a:rPr sz="2000" b="0" spc="-150" dirty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0.06%로, </a:t>
            </a:r>
            <a:endParaRPr lang="en-US" sz="2000" b="0" spc="-150" dirty="0" smtClean="0">
              <a:solidFill>
                <a:srgbClr val="1F2328"/>
              </a:solidFill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2000" b="0" spc="-150" dirty="0" err="1" smtClean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미기재가</a:t>
            </a:r>
            <a:r>
              <a:rPr sz="2000" b="0" spc="-150" dirty="0" smtClean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2000" b="0" spc="-150" dirty="0" err="1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아닌 '해당 요소 없음'으로 판단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69281" y="651316"/>
            <a:ext cx="615198" cy="5555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lang="en-US" sz="1600" b="1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16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lang="en-US" sz="2000" b="1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20</a:t>
            </a:r>
            <a:endParaRPr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5486400" cy="29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3.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결론</a:t>
            </a: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2 ·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공개</a:t>
            </a: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범위</a:t>
            </a:r>
            <a:endParaRPr sz="1100" b="0" dirty="0">
              <a:solidFill>
                <a:srgbClr val="6B7280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474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게임물 전체로 일반화할 수 없는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423851" y="1510761"/>
            <a:ext cx="402336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60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0.27%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8171" y="2532469"/>
            <a:ext cx="4023360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같은</a:t>
            </a:r>
            <a:r>
              <a:rPr sz="12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기간</a:t>
            </a:r>
            <a:r>
              <a:rPr sz="12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전체</a:t>
            </a:r>
            <a:r>
              <a:rPr sz="12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등급분류</a:t>
            </a:r>
            <a:r>
              <a:rPr sz="12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200" b="0" dirty="0" smtClean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중</a:t>
            </a:r>
          </a:p>
          <a:p>
            <a:pPr algn="l">
              <a:spcAft>
                <a:spcPts val="600"/>
              </a:spcAft>
            </a:pPr>
            <a:r>
              <a:rPr sz="1200" b="0" dirty="0" err="1" smtClean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위원회</a:t>
            </a:r>
            <a:r>
              <a:rPr sz="1200" b="0" dirty="0" smtClean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200" b="0" dirty="0" err="1" smtClean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심의가</a:t>
            </a:r>
            <a:r>
              <a:rPr sz="1200" b="0" dirty="0" smtClean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200" b="0" dirty="0" err="1" smtClean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차지하는</a:t>
            </a:r>
            <a:r>
              <a:rPr sz="1200" b="0" dirty="0" smtClean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200" b="0" dirty="0" err="1" smtClean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비중</a:t>
            </a:r>
            <a:endParaRPr sz="1200" b="0" dirty="0">
              <a:solidFill>
                <a:srgbClr val="6B7280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4749581"/>
              </p:ext>
            </p:extLst>
          </p:nvPr>
        </p:nvGraphicFramePr>
        <p:xfrm>
          <a:off x="4937760" y="1586204"/>
          <a:ext cx="6675120" cy="18610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2324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 dirty="0" err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구분</a:t>
                      </a:r>
                      <a:endParaRPr sz="1250" b="1" dirty="0">
                        <a:solidFill>
                          <a:srgbClr val="1F3864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건수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청소년이용불가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위원회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심의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(2026-07-01~2026-08-19)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207건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29.7% (전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기간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사업자 자체등급분류 (같은 기간)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76,409건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0.11%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차이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약 369배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endParaRPr dirty="0"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8" name="Picture 7" descr="sh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11880"/>
            <a:ext cx="10607040" cy="146544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4983480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0" dirty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19년간의 위원회 분류 건수보다 7주간의 자체등급분류 건수가 더 많음. </a:t>
            </a:r>
            <a:br>
              <a:rPr sz="2000" b="0" dirty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</a:br>
            <a:r>
              <a:rPr sz="2000" b="0" dirty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단, 두 경로에 접수되는 게임물의 성격이 상이하여 심의 엄격도의 차이로 해석 불가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5486400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4.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결론</a:t>
            </a: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3 ·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영상물</a:t>
            </a:r>
            <a:endParaRPr sz="1100" b="0" dirty="0">
              <a:solidFill>
                <a:srgbClr val="6B7280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영상물의 상이한 등급 결정 구조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6424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영상물은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내용정보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7개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항목에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각각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1~5단계를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부여. 그 최고값을 등급에 그대로 대응시켜 확인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3485706"/>
              </p:ext>
            </p:extLst>
          </p:nvPr>
        </p:nvGraphicFramePr>
        <p:xfrm>
          <a:off x="1257766" y="2384904"/>
          <a:ext cx="694944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 dirty="0" err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내용정보</a:t>
                      </a:r>
                      <a:r>
                        <a:rPr sz="1250" b="1" dirty="0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1" dirty="0" err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최고값</a:t>
                      </a:r>
                      <a:endParaRPr sz="1250" b="1" dirty="0">
                        <a:solidFill>
                          <a:srgbClr val="1F3864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대응하는 관람등급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1단계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전체관람가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2단계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12세이상관람가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3단계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15세이상관람가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4단계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청소년관람불가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5단계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제한관람가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022080" y="2279230"/>
            <a:ext cx="2590800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44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99.93%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205" y="3273552"/>
            <a:ext cx="3591663" cy="424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5000"/>
              </a:lnSpc>
              <a:spcAft>
                <a:spcPts val="600"/>
              </a:spcAft>
            </a:pPr>
            <a:r>
              <a:rPr sz="1600" b="1" spc="-15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134,462건 중 134,364</a:t>
            </a:r>
            <a:r>
              <a:rPr sz="1600" b="1" spc="-150" dirty="0" smtClean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건이</a:t>
            </a:r>
            <a:r>
              <a:rPr lang="en-US" sz="1600" b="1" spc="-150" dirty="0" smtClean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1" spc="-150" dirty="0" smtClean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이 </a:t>
            </a:r>
            <a:r>
              <a:rPr sz="1600" b="1" spc="-15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규칙에</a:t>
            </a:r>
            <a:r>
              <a:rPr sz="1600" b="1" spc="-15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1" spc="-150" dirty="0" err="1" smtClean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부합</a:t>
            </a:r>
            <a:endParaRPr sz="1600" b="1" spc="-150" dirty="0">
              <a:solidFill>
                <a:srgbClr val="6B7280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387357" y="3716568"/>
            <a:ext cx="563817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600" b="1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표기 체계가 변경된 2017년 5월 이후 </a:t>
            </a:r>
            <a:br>
              <a:rPr sz="1600" b="1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</a:br>
            <a:r>
              <a:rPr sz="1600" b="1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94,516건에서는 예외 0건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384" y="5368679"/>
            <a:ext cx="1106424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endParaRPr sz="2000" b="1" spc="-150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  <a:r>
              <a:rPr sz="2000" b="1" spc="-150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등급은 산정된 값이 아니라 최고값을 옮겨 적은 값. </a:t>
            </a:r>
            <a:br>
              <a:rPr sz="2000" b="1" spc="-150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</a:br>
            <a:r>
              <a:rPr sz="2000" b="1" spc="-150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따라서 내용정보로 등급을 설명하는 분석은 성립 불가. 동일한 값을 두 번 사용하는 것이기 때문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모서리가 둥근 직사각형 9"/>
          <p:cNvSpPr/>
          <p:nvPr/>
        </p:nvSpPr>
        <p:spPr>
          <a:xfrm>
            <a:off x="3702667" y="2224244"/>
            <a:ext cx="7789537" cy="1670110"/>
          </a:xfrm>
          <a:prstGeom prst="roundRect">
            <a:avLst/>
          </a:prstGeom>
          <a:solidFill>
            <a:srgbClr val="00206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모서리가 둥근 직사각형 8"/>
          <p:cNvSpPr/>
          <p:nvPr/>
        </p:nvSpPr>
        <p:spPr>
          <a:xfrm>
            <a:off x="430794" y="2225122"/>
            <a:ext cx="2816259" cy="1670110"/>
          </a:xfrm>
          <a:prstGeom prst="roundRect">
            <a:avLst/>
          </a:prstGeom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/>
          <p:cNvSpPr txBox="1"/>
          <p:nvPr/>
        </p:nvSpPr>
        <p:spPr>
          <a:xfrm>
            <a:off x="457200" y="310896"/>
            <a:ext cx="5486400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4.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결론</a:t>
            </a: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3 ·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영상물</a:t>
            </a:r>
            <a:endParaRPr sz="1100" b="0" dirty="0">
              <a:solidFill>
                <a:srgbClr val="6B7280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판단이 개입하는 유일한 영역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2323921"/>
            <a:ext cx="4023360" cy="1142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60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12.2%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11473"/>
            <a:ext cx="4023360" cy="341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 dirty="0" err="1">
                <a:solidFill>
                  <a:schemeClr val="bg1">
                    <a:lumMod val="75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신청등급과</a:t>
            </a:r>
            <a:r>
              <a:rPr sz="1200" b="0" dirty="0">
                <a:solidFill>
                  <a:schemeClr val="bg1">
                    <a:lumMod val="75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1200" b="0" dirty="0" err="1" smtClean="0">
                <a:solidFill>
                  <a:schemeClr val="bg1">
                    <a:lumMod val="75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결정등급이</a:t>
            </a: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1200" b="0" dirty="0" err="1" smtClean="0">
                <a:solidFill>
                  <a:schemeClr val="bg1">
                    <a:lumMod val="75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달라진</a:t>
            </a:r>
            <a:r>
              <a:rPr sz="1200" b="0" dirty="0" smtClean="0">
                <a:solidFill>
                  <a:schemeClr val="bg1">
                    <a:lumMod val="75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 </a:t>
            </a:r>
            <a:r>
              <a:rPr sz="1200" b="0" dirty="0" err="1">
                <a:solidFill>
                  <a:schemeClr val="bg1">
                    <a:lumMod val="75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비율</a:t>
            </a:r>
            <a:endParaRPr sz="1200" b="0" dirty="0">
              <a:solidFill>
                <a:schemeClr val="bg1">
                  <a:lumMod val="75000"/>
                </a:schemeClr>
              </a:solidFill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815536" y="2263541"/>
            <a:ext cx="7437120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 spc="-150" dirty="0">
                <a:solidFill>
                  <a:schemeClr val="bg1">
                    <a:lumMod val="85000"/>
                  </a:schemeClr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</a:t>
            </a:r>
            <a:r>
              <a:rPr sz="1600" b="0" spc="-150" dirty="0" err="1">
                <a:solidFill>
                  <a:schemeClr val="bg1">
                    <a:lumMod val="85000"/>
                  </a:schemeClr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상향</a:t>
            </a:r>
            <a:r>
              <a:rPr sz="1600" b="0" spc="-150" dirty="0">
                <a:solidFill>
                  <a:schemeClr val="bg1">
                    <a:lumMod val="85000"/>
                  </a:schemeClr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8.6% · </a:t>
            </a:r>
            <a:r>
              <a:rPr sz="1600" b="0" spc="-150" dirty="0" err="1">
                <a:solidFill>
                  <a:schemeClr val="bg1">
                    <a:lumMod val="85000"/>
                  </a:schemeClr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하향</a:t>
            </a:r>
            <a:r>
              <a:rPr sz="1600" b="0" spc="-150" dirty="0">
                <a:solidFill>
                  <a:schemeClr val="bg1">
                    <a:lumMod val="85000"/>
                  </a:schemeClr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3.6%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 spc="-150" dirty="0">
                <a:solidFill>
                  <a:schemeClr val="bg1">
                    <a:lumMod val="85000"/>
                  </a:schemeClr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</a:t>
            </a:r>
            <a:r>
              <a:rPr sz="1600" b="0" spc="-150" dirty="0" err="1">
                <a:solidFill>
                  <a:schemeClr val="bg1">
                    <a:lumMod val="85000"/>
                  </a:schemeClr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신청등급은</a:t>
            </a:r>
            <a:r>
              <a:rPr sz="1600" b="0" spc="-150" dirty="0">
                <a:solidFill>
                  <a:schemeClr val="bg1">
                    <a:lumMod val="85000"/>
                  </a:schemeClr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chemeClr val="bg1">
                    <a:lumMod val="85000"/>
                  </a:schemeClr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신청인이</a:t>
            </a:r>
            <a:r>
              <a:rPr sz="1600" b="0" spc="-150" dirty="0">
                <a:solidFill>
                  <a:schemeClr val="bg1">
                    <a:lumMod val="85000"/>
                  </a:schemeClr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chemeClr val="bg1">
                    <a:lumMod val="85000"/>
                  </a:schemeClr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자체 판단하여 기재한 값으로 결정등급과 동일한 값이 아님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 spc="-150" dirty="0">
                <a:solidFill>
                  <a:schemeClr val="bg1">
                    <a:lumMod val="85000"/>
                  </a:schemeClr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12세 신청 건의 28.2%가 상향 조정. 신청인이 등급을 가장 낮게 예측하는 구간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 spc="-150" dirty="0">
                <a:solidFill>
                  <a:schemeClr val="bg1">
                    <a:lumMod val="85000"/>
                  </a:schemeClr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</a:t>
            </a:r>
            <a:r>
              <a:rPr sz="1600" b="0" spc="-150" dirty="0" err="1">
                <a:solidFill>
                  <a:schemeClr val="bg1">
                    <a:lumMod val="85000"/>
                  </a:schemeClr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청소년관람불가 신청 건은 상향 여지가 없어 조정이 드묾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" y="4160520"/>
            <a:ext cx="10972800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2000" b="1" spc="-150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내용정보와</a:t>
            </a:r>
            <a:r>
              <a:rPr sz="2000" b="1" spc="-150" dirty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2000" b="1" spc="-150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결정등급은</a:t>
            </a:r>
            <a:r>
              <a:rPr sz="2000" b="1" spc="-150" dirty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2000" b="1" spc="-150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동일한 값으로 상호 설명력 없음.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2000" b="1" spc="-150" dirty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본 12.2% 구간이 자료에서 심의 판단을 확인할 수 있는 유일한 영역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5486400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5. 매체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동일 조건 비교 시 게임물의 판정이 더 엄격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pic>
        <p:nvPicPr>
          <p:cNvPr id="5" name="Picture 4" descr="comb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6675120" cy="36156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38038" y="1714967"/>
            <a:ext cx="3840480" cy="2693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명칭이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같은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4개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항목의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보유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조합이</a:t>
            </a:r>
            <a:endParaRPr sz="1600" b="0" spc="-15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완전히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동일한 건끼리 비교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sz="1600" b="0" spc="-15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비교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가능한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10개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조합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전부에서</a:t>
            </a:r>
            <a:endParaRPr sz="1600" b="0" spc="-15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게임물의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제한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비율이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높음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sz="1600" b="0" spc="-15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평균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차이</a:t>
            </a:r>
            <a:r>
              <a:rPr sz="16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+15.1%p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9464" y="4935972"/>
            <a:ext cx="11422536" cy="1669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lang="ko-KR" altLang="en-US" sz="2000" b="1" spc="-15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단</a:t>
            </a:r>
            <a:r>
              <a:rPr lang="en-US" altLang="ko-KR" sz="2000" b="1" spc="-15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,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b="0" spc="-150" dirty="0" err="1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영상물의 5단계를 게임물의 보유·미보유에 대응시키려면 특정 지점에서의 절단이 필요하나, 그 지점은 데이터로 도출되지 않음.</a:t>
            </a:r>
            <a:br>
              <a:rPr b="0" spc="-150" dirty="0" err="1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</a:br>
            <a:r>
              <a:rPr b="0" spc="-150" dirty="0" err="1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3단계 기준은 위와 같고, 4단계 기준에서는 영상물이 정의상 100%가 되어 비교 자체가 성립 불가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따라서</a:t>
            </a:r>
            <a:r>
              <a:rPr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'</a:t>
            </a:r>
            <a:r>
              <a:rPr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게임물이</a:t>
            </a:r>
            <a:r>
              <a:rPr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더 </a:t>
            </a:r>
            <a:r>
              <a:rPr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엄격하다'는</a:t>
            </a:r>
            <a:r>
              <a:rPr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결론은 절단 기준을 함께 명시할 때에만 성립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69281" y="651316"/>
            <a:ext cx="615198" cy="5555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lang="en-US" sz="1600" b="1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16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2000" b="1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lang="en-US" sz="2000" b="1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20</a:t>
            </a:r>
            <a:endParaRPr sz="2000" b="1" dirty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5486400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5.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매체</a:t>
            </a: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비교</a:t>
            </a:r>
            <a:endParaRPr sz="1100" b="0" dirty="0">
              <a:solidFill>
                <a:srgbClr val="6B7280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청소년 이용 제한 콘텐츠의 특성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8968494"/>
              </p:ext>
            </p:extLst>
          </p:nvPr>
        </p:nvGraphicFramePr>
        <p:xfrm>
          <a:off x="548640" y="1463040"/>
          <a:ext cx="11064238" cy="22128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1" spc="-150" dirty="0" err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구분</a:t>
                      </a:r>
                      <a:endParaRPr sz="1400" b="1" spc="-150" dirty="0">
                        <a:solidFill>
                          <a:srgbClr val="1F3864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1" spc="-150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건수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1" spc="-150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제한 건수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1" spc="-150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비율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게임물</a:t>
                      </a:r>
                      <a:r>
                        <a:rPr sz="1400" b="0" spc="-15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· </a:t>
                      </a:r>
                      <a:r>
                        <a:rPr sz="1400" b="0" spc="-15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위원회</a:t>
                      </a:r>
                      <a:r>
                        <a:rPr sz="1400" b="0" spc="-15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400" b="0" spc="-15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심의</a:t>
                      </a:r>
                      <a:endParaRPr sz="1400" b="0" spc="-15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29,417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8,740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29.7%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게임물</a:t>
                      </a:r>
                      <a:r>
                        <a:rPr sz="1400" b="0" spc="-15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· </a:t>
                      </a:r>
                      <a:r>
                        <a:rPr sz="1400" b="0" spc="-15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자체등급분류</a:t>
                      </a:r>
                      <a:endParaRPr sz="1400" b="0" spc="-15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76,409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83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0.11%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영상물 · 전체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134,464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58,816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43.7%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영상물 · 성인물 제외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84,723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9,076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400" b="0" spc="-15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10.7%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39" y="4016106"/>
            <a:ext cx="10685417" cy="2508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영상물의 43.7%는 성인물에 기인. </a:t>
            </a:r>
            <a:b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</a:b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 성인물은 내용정보와 무관하게 사실상 전건이 청소년관람불가여서, 제외 시 10.7%로 하락. 종별 미통제 시 결론이 반대로 도출될 수 있음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lang="en-US" sz="140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/>
            </a:r>
            <a:br>
              <a:rPr lang="en-US" sz="140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</a:br>
            <a:r>
              <a:rPr lang="en-US" sz="140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게임물에서 청소년 이용 제한이 가장 많은 장르는 보드게임(베팅성)으로 99.7%, 플랫폼에서는 온라인 게임이 74.9%로 가장 높음. </a:t>
            </a:r>
            <a:br>
              <a:rPr lang="en-US" sz="140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</a:br>
            <a:r>
              <a:rPr lang="en-US" sz="140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 둘 다 웹보드 게임이 집중된 영역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lang="en-US" sz="140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/>
            </a:r>
            <a:br>
              <a:rPr lang="en-US" sz="140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</a:br>
            <a:r>
              <a:rPr sz="140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자체등급분류의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청소년이용불가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83건은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제도상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사업자가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부여할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수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없는</a:t>
            </a:r>
            <a:r>
              <a:rPr sz="14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4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등급으로, 사후 등급 조정의 결과로 해석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5486400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6. 산출물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산출물 5종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1572387"/>
              </p:ext>
            </p:extLst>
          </p:nvPr>
        </p:nvGraphicFramePr>
        <p:xfrm>
          <a:off x="548640" y="1417320"/>
          <a:ext cx="11064240" cy="27614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 dirty="0" err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산출물</a:t>
                      </a:r>
                      <a:endParaRPr sz="1250" b="1" dirty="0">
                        <a:solidFill>
                          <a:srgbClr val="1F3864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형태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내용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①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통합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분석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Dataset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parquet · csv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게임물·영상물 240,290행 × 35열, 데이터 사전 포함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②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연령등급·내용정보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EDA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HTML 2종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영상물·게임물 각각의 현황 분석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③ 청소년 이용 제한 특성 분석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HTML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규모·추이·분포·항목·조합·자체등급분류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6개 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④ 인터랙티브 대시보드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공개 URL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Streamlit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·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Plotly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6개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화면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,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조건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변경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조회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⑤ 주요 분석 인사이트 리포트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HTML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결론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3가지를 한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편으로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정리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415433"/>
            <a:ext cx="11064240" cy="348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dirty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https://rating-analysis-260910.streamlit.app/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16908" y="4319096"/>
            <a:ext cx="6495972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2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모든</a:t>
            </a:r>
            <a:r>
              <a:rPr sz="12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2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산출물은</a:t>
            </a:r>
            <a:r>
              <a:rPr sz="12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2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스크립트로</a:t>
            </a:r>
            <a:r>
              <a:rPr sz="1200" b="0" spc="-1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200" b="0" spc="-15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재생성 가능.</a:t>
            </a:r>
            <a:endParaRPr lang="en-US" sz="1200" spc="-150" dirty="0" smtClean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endParaRPr lang="en-US" sz="1200" spc="-150" dirty="0" smtClean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  <a:r>
              <a:rPr sz="1200" b="0" spc="-150" dirty="0" err="1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원자료 갱신 시 수치가 자동 반영되며, </a:t>
            </a:r>
            <a:br>
              <a:rPr sz="1200" b="0" spc="-150" dirty="0" err="1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</a:br>
            <a:r>
              <a:rPr sz="1200" b="0" spc="-150" dirty="0" err="1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리포트와 대시보드의 수치 불일치를 막기 위해 계산부를 한 곳에 집중.</a:t>
            </a:r>
          </a:p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200" b="0" spc="-15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본 발표자료도 동일한 요약 파일에서 수치를 읽어 생성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5486400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6. 산출물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대시보드: 화면 하나당 분석 질문 하나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pic>
        <p:nvPicPr>
          <p:cNvPr id="5" name="Picture 4" descr="dashbo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7589520" cy="4209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0" y="1463040"/>
            <a:ext cx="3383280" cy="4054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①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등급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결정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기준</a:t>
            </a:r>
            <a:endParaRPr sz="1350" b="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②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등급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상향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요인</a:t>
            </a:r>
            <a:endParaRPr sz="1350" b="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③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신청등급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대비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조정</a:t>
            </a:r>
            <a:endParaRPr sz="1350" b="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④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매체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간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판정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차이</a:t>
            </a:r>
            <a:endParaRPr sz="1350" b="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⑤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공개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데이터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포괄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범위</a:t>
            </a:r>
            <a:endParaRPr sz="1350" b="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⑥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개별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건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조회</a:t>
            </a:r>
            <a:endParaRPr sz="1350" b="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endParaRPr sz="1350" b="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공통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필터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: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기간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·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영상물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종별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·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게임물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플랫폼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·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성인물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제외</a:t>
            </a:r>
            <a:endParaRPr sz="1350" b="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endParaRPr sz="1350" b="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필터 변경 시 화면의 해석 문장도</a:t>
            </a:r>
            <a:endParaRPr sz="1350" b="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재산출됨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69904" y="5525297"/>
            <a:ext cx="4419600" cy="361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dirty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  <a:hlinkClick r:id="rId4"/>
              </a:rPr>
              <a:t>https://</a:t>
            </a:r>
            <a:r>
              <a:rPr sz="1400" dirty="0" smtClean="0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  <a:hlinkClick r:id="rId4"/>
              </a:rPr>
              <a:t>rating-analysis-260910.streamlit.app/</a:t>
            </a:r>
            <a:endParaRPr lang="en-US" sz="1400" dirty="0" smtClean="0">
              <a:solidFill>
                <a:srgbClr val="1F3864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5486400" cy="29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7.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한계와</a:t>
            </a: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배운</a:t>
            </a: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474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한계와 후속 과제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5327631"/>
              </p:ext>
            </p:extLst>
          </p:nvPr>
        </p:nvGraphicFramePr>
        <p:xfrm>
          <a:off x="548640" y="1417320"/>
          <a:ext cx="11064239" cy="3218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696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구분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내용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표본의 범위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게임물 결과는 위원회 직접 심의분에 한정. 공개 API 로 확인 가능한 범위는 전체의 0.27%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표본 구성 편중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영상물은 성인물이 37%를 차지하며, 성인물은 내용정보와 무관하게 대부분 청소년관람불가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이진화 기준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매체 비교는 영상물 3단계 절단 기준에서만 성립. 절단 지점은 데이터로 도출 불가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비교군 자료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자체등급분류 비교군은 약 7주분이 전부이며 재수집 불가로 추세 분석에 활용 불가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후속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과제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두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자료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모두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서술형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설명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필드 보유. 게임물 개요 97.4%, 영상물 작품 내용은 2018년 이후 100% 기록되어 후속 분석의 재료로 활용 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5486400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7.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한계와</a:t>
            </a: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100" b="0" dirty="0" err="1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배운</a:t>
            </a:r>
            <a:r>
              <a:rPr sz="1100" b="0" dirty="0">
                <a:solidFill>
                  <a:srgbClr val="6B7280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폐기한 결론 두 가지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분석</a:t>
            </a:r>
            <a:r>
              <a:rPr sz="160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60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과정에서 결과가 반대로 도출되어 폐기한 사례 2건. 가장 많은 시사점을 얻은 부분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1178410"/>
              </p:ext>
            </p:extLst>
          </p:nvPr>
        </p:nvGraphicFramePr>
        <p:xfrm>
          <a:off x="548640" y="2145444"/>
          <a:ext cx="11064239" cy="24871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 dirty="0" err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폐기한</a:t>
                      </a:r>
                      <a:r>
                        <a:rPr sz="1250" b="1" dirty="0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1" dirty="0" err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결론</a:t>
                      </a:r>
                      <a:endParaRPr sz="1250" b="1" dirty="0">
                        <a:solidFill>
                          <a:srgbClr val="1F3864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1">
                          <a:solidFill>
                            <a:srgbClr val="1F3864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왜 틀렸는가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내용정보로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등급 설명 가능</a:t>
                      </a:r>
                      <a:endParaRPr sz="1250" b="0" dirty="0">
                        <a:solidFill>
                          <a:srgbClr val="1F2328"/>
                        </a:solidFill>
                        <a:latin typeface="나눔고딕OTF" panose="020D0604000000000000" pitchFamily="34" charset="-127"/>
                        <a:ea typeface="나눔고딕OTF" panose="020D0604000000000000" pitchFamily="34" charset="-127"/>
                      </a:endParaRPr>
                    </a:p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(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회귀분석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AUC 1.000)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모형의 성능이 아니라 등급이 곧 내용정보의 최고값이어서 동일한 값을 두 번 사용한 결과. 교차표 확인 후에야 항등식임을 파악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항목이 중복될수록 등급 상승</a:t>
                      </a:r>
                    </a:p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(개수 4개 93.4% → 5개 71.5%로 꺾임)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성인물이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특정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구간에</a:t>
                      </a:r>
                      <a:r>
                        <a:rPr sz="1250" b="0" dirty="0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F2328"/>
                          </a:solidFill>
                          <a:latin typeface="나눔고딕OTF" panose="020D0604000000000000" pitchFamily="34" charset="-127"/>
                          <a:ea typeface="나눔고딕OTF" panose="020D0604000000000000" pitchFamily="34" charset="-127"/>
                        </a:rPr>
                        <a:t>집중되어 발생한 착시. 성인물 제외 시 꺾임이 사라지고 단조 증가로 전환. 종별 미통제가 원인</a:t>
                      </a:r>
                    </a:p>
                  </a:txBody>
                  <a:tcPr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029200"/>
            <a:ext cx="1106424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1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시사점: 결과가 지나치게 정연할 경우 모형이 아니라 데이터 구조를 우선 의심할 필요. </a:t>
            </a:r>
            <a:br>
              <a:rPr sz="2000" b="1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</a:br>
            <a:r>
              <a:rPr sz="2000" b="1" dirty="0" err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비율 비교에 앞서 대상 집단의 구성을 먼저 통제할 필요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530352"/>
            <a:ext cx="11247120" cy="5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정리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11274552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경기천년제목 Bold" panose="02020803020101020101" pitchFamily="18" charset="-127"/>
              <a:ea typeface="경기천년제목 Bold" panose="02020803020101020101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1997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  <a:spcAft>
                <a:spcPts val="600"/>
              </a:spcAft>
            </a:pPr>
            <a:r>
              <a:rPr sz="1700" b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1.  게임물의 청소년이용불가를 결정하는 요인은 폭력성·선정성이 아닌 사행성</a:t>
            </a:r>
          </a:p>
          <a:p>
            <a:pPr algn="l">
              <a:lnSpc>
                <a:spcPct val="160000"/>
              </a:lnSpc>
              <a:spcAft>
                <a:spcPts val="600"/>
              </a:spcAft>
            </a:pPr>
            <a:r>
              <a:rPr sz="1700" b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2.  단, 공개 데이터로 확인 가능한 범위는 게임물 등급분류 전체의 0.27%</a:t>
            </a:r>
          </a:p>
          <a:p>
            <a:pPr algn="l">
              <a:lnSpc>
                <a:spcPct val="160000"/>
              </a:lnSpc>
              <a:spcAft>
                <a:spcPts val="600"/>
              </a:spcAft>
            </a:pPr>
            <a:r>
              <a:rPr sz="1700" b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3.  영상물의 등급은 내용정보의 최고값과 동일하며, 판단이 개입하는 영역은 12.2%에 한정</a:t>
            </a:r>
          </a:p>
          <a:p>
            <a:pPr algn="l">
              <a:lnSpc>
                <a:spcPct val="160000"/>
              </a:lnSpc>
              <a:spcAft>
                <a:spcPts val="600"/>
              </a:spcAft>
            </a:pPr>
            <a:r>
              <a:rPr sz="1700" b="0">
                <a:solidFill>
                  <a:srgbClr val="1F2328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4.  동일 조건 비교 시 게임물의 판정이 더 엄격. 단, 절단 기준을 전제로 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5435" y="3800728"/>
            <a:ext cx="10972800" cy="3424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F3864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산출물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5435" y="4143129"/>
            <a:ext cx="10972800" cy="16985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altLang="ko-KR" sz="13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</a:t>
            </a:r>
            <a:r>
              <a:rPr sz="1350" b="0" dirty="0" err="1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대시보드</a:t>
            </a:r>
            <a:r>
              <a:rPr sz="135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https://rating-analysis-260910.streamlit.app/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altLang="ko-KR" sz="135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</a:t>
            </a:r>
            <a:r>
              <a:rPr sz="1350" b="0" dirty="0" err="1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통합</a:t>
            </a:r>
            <a:r>
              <a:rPr sz="135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Dataset </a:t>
            </a:r>
            <a:endParaRPr lang="en-US" sz="1350" b="0" dirty="0" smtClean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EDA 2종 </a:t>
            </a:r>
            <a:endParaRPr lang="en-US" sz="1350" b="0" dirty="0" smtClean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청소년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이용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제한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특성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분석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endParaRPr lang="en-US" sz="1350" b="0" dirty="0" smtClean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 smtClean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·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인사이트</a:t>
            </a:r>
            <a:r>
              <a:rPr sz="1350" b="0" dirty="0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sz="1350" b="0" dirty="0" err="1">
                <a:solidFill>
                  <a:srgbClr val="1F2328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리포트</a:t>
            </a:r>
            <a:endParaRPr sz="1350" b="0" dirty="0">
              <a:solidFill>
                <a:srgbClr val="1F2328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397793" y="5550437"/>
            <a:ext cx="2140442" cy="582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800" b="1" dirty="0" err="1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감사합니다</a:t>
            </a:r>
            <a:r>
              <a:rPr sz="2800" b="1" dirty="0">
                <a:solidFill>
                  <a:srgbClr val="1F3864"/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3247</Words>
  <Application>Microsoft Office PowerPoint</Application>
  <PresentationFormat>와이드스크린</PresentationFormat>
  <Paragraphs>485</Paragraphs>
  <Slides>18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4" baseType="lpstr">
      <vt:lpstr>경기천년제목 Bold</vt:lpstr>
      <vt:lpstr>나눔고딕OTF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/>
  <cp:keywords/>
  <dc:description>generated using python-pptx</dc:description>
  <cp:lastModifiedBy>User</cp:lastModifiedBy>
  <cp:revision>74</cp:revision>
  <dcterms:created xsi:type="dcterms:W3CDTF">2013-01-27T09:14:16Z</dcterms:created>
  <dcterms:modified xsi:type="dcterms:W3CDTF">2026-09-14T07:06:19Z</dcterms:modified>
  <cp:category/>
</cp:coreProperties>
</file>