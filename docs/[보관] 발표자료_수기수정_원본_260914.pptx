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82286" autoAdjust="0"/>
  </p:normalViewPr>
  <p:slideViewPr>
    <p:cSldViewPr snapToGrid="0" snapToObjects="1">
      <p:cViewPr varScale="1">
        <p:scale>
          <a:sx n="103" d="100"/>
          <a:sy n="103" d="100"/>
        </p:scale>
        <p:origin x="79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159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인사와</a:t>
            </a:r>
            <a:r>
              <a:rPr dirty="0"/>
              <a:t> </a:t>
            </a:r>
            <a:r>
              <a:rPr dirty="0" err="1"/>
              <a:t>주제</a:t>
            </a:r>
            <a:r>
              <a:rPr dirty="0"/>
              <a:t> 한 줄 </a:t>
            </a:r>
            <a:r>
              <a:rPr dirty="0" err="1"/>
              <a:t>소개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말할</a:t>
            </a:r>
            <a:r>
              <a:rPr dirty="0"/>
              <a:t> 것: </a:t>
            </a:r>
            <a:r>
              <a:rPr dirty="0" err="1"/>
              <a:t>게임물과</a:t>
            </a:r>
            <a:r>
              <a:rPr dirty="0"/>
              <a:t> </a:t>
            </a:r>
            <a:r>
              <a:rPr dirty="0" err="1"/>
              <a:t>영상물의</a:t>
            </a:r>
            <a:r>
              <a:rPr dirty="0"/>
              <a:t> </a:t>
            </a:r>
            <a:r>
              <a:rPr dirty="0" err="1"/>
              <a:t>등급분류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각 </a:t>
            </a:r>
            <a:r>
              <a:rPr dirty="0" err="1"/>
              <a:t>기관</a:t>
            </a:r>
            <a:r>
              <a:rPr dirty="0"/>
              <a:t> </a:t>
            </a:r>
            <a:r>
              <a:rPr dirty="0" err="1"/>
              <a:t>공개</a:t>
            </a:r>
            <a:r>
              <a:rPr dirty="0"/>
              <a:t> API 로 </a:t>
            </a:r>
            <a:r>
              <a:rPr dirty="0" err="1"/>
              <a:t>전량</a:t>
            </a:r>
            <a:r>
              <a:rPr dirty="0"/>
              <a:t> </a:t>
            </a:r>
            <a:r>
              <a:rPr dirty="0" err="1"/>
              <a:t>받아</a:t>
            </a:r>
            <a:r>
              <a:rPr dirty="0"/>
              <a:t>, </a:t>
            </a:r>
            <a:r>
              <a:rPr dirty="0" err="1"/>
              <a:t>청소년</a:t>
            </a:r>
            <a:r>
              <a:rPr dirty="0"/>
              <a:t> </a:t>
            </a:r>
            <a:r>
              <a:rPr dirty="0" err="1"/>
              <a:t>이용을</a:t>
            </a:r>
            <a:r>
              <a:rPr dirty="0"/>
              <a:t> </a:t>
            </a:r>
            <a:r>
              <a:rPr dirty="0" err="1"/>
              <a:t>제한하는</a:t>
            </a:r>
            <a:r>
              <a:rPr dirty="0"/>
              <a:t> </a:t>
            </a:r>
            <a:r>
              <a:rPr dirty="0" err="1"/>
              <a:t>등급이</a:t>
            </a:r>
            <a:r>
              <a:rPr dirty="0"/>
              <a:t> </a:t>
            </a:r>
            <a:r>
              <a:rPr dirty="0" err="1"/>
              <a:t>무엇으로</a:t>
            </a:r>
            <a:r>
              <a:rPr dirty="0"/>
              <a:t> </a:t>
            </a:r>
            <a:r>
              <a:rPr dirty="0" err="1"/>
              <a:t>결정되는지</a:t>
            </a:r>
            <a:r>
              <a:rPr dirty="0"/>
              <a:t> </a:t>
            </a:r>
            <a:r>
              <a:rPr dirty="0" err="1"/>
              <a:t>확인한</a:t>
            </a:r>
            <a:r>
              <a:rPr dirty="0"/>
              <a:t> </a:t>
            </a:r>
            <a:r>
              <a:rPr dirty="0" err="1"/>
              <a:t>프로젝트다</a:t>
            </a:r>
            <a:r>
              <a:rPr dirty="0"/>
              <a:t>. 두 </a:t>
            </a:r>
            <a:r>
              <a:rPr dirty="0" err="1"/>
              <a:t>매체를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표에</a:t>
            </a:r>
            <a:r>
              <a:rPr dirty="0"/>
              <a:t> </a:t>
            </a:r>
            <a:r>
              <a:rPr dirty="0" err="1"/>
              <a:t>놓고</a:t>
            </a:r>
            <a:r>
              <a:rPr dirty="0"/>
              <a:t> </a:t>
            </a:r>
            <a:r>
              <a:rPr dirty="0" err="1"/>
              <a:t>비교한</a:t>
            </a:r>
            <a:r>
              <a:rPr dirty="0"/>
              <a:t> </a:t>
            </a:r>
            <a:r>
              <a:rPr dirty="0" err="1"/>
              <a:t>자료가</a:t>
            </a:r>
            <a:r>
              <a:rPr dirty="0"/>
              <a:t> </a:t>
            </a:r>
            <a:r>
              <a:rPr dirty="0" err="1"/>
              <a:t>드물어서</a:t>
            </a:r>
            <a:r>
              <a:rPr dirty="0"/>
              <a:t> 이 </a:t>
            </a:r>
            <a:r>
              <a:rPr dirty="0" err="1"/>
              <a:t>주제를</a:t>
            </a:r>
            <a:r>
              <a:rPr dirty="0"/>
              <a:t> </a:t>
            </a:r>
            <a:r>
              <a:rPr dirty="0" err="1"/>
              <a:t>골랐다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시간은</a:t>
            </a:r>
            <a:r>
              <a:rPr dirty="0"/>
              <a:t> 10~15분, </a:t>
            </a:r>
            <a:r>
              <a:rPr dirty="0" err="1"/>
              <a:t>마지막에</a:t>
            </a:r>
            <a:r>
              <a:rPr dirty="0"/>
              <a:t> </a:t>
            </a:r>
            <a:r>
              <a:rPr dirty="0" err="1"/>
              <a:t>대시보드를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열어</a:t>
            </a:r>
            <a:r>
              <a:rPr dirty="0"/>
              <a:t> </a:t>
            </a:r>
            <a:r>
              <a:rPr dirty="0" err="1"/>
              <a:t>보여</a:t>
            </a:r>
            <a:r>
              <a:rPr dirty="0"/>
              <a:t> </a:t>
            </a:r>
            <a:r>
              <a:rPr dirty="0" err="1"/>
              <a:t>주는</a:t>
            </a:r>
            <a:r>
              <a:rPr dirty="0"/>
              <a:t> </a:t>
            </a:r>
            <a:r>
              <a:rPr dirty="0" err="1"/>
              <a:t>순서로</a:t>
            </a:r>
            <a:r>
              <a:rPr dirty="0"/>
              <a:t> </a:t>
            </a:r>
            <a:r>
              <a:rPr dirty="0" err="1"/>
              <a:t>진행한다고</a:t>
            </a:r>
            <a:r>
              <a:rPr dirty="0"/>
              <a:t> </a:t>
            </a:r>
            <a:r>
              <a:rPr dirty="0" err="1"/>
              <a:t>예고하면</a:t>
            </a:r>
            <a:r>
              <a:rPr dirty="0"/>
              <a:t> </a:t>
            </a:r>
            <a:r>
              <a:rPr dirty="0" err="1"/>
              <a:t>좋다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순서만 짧게 읽고 넘어간다. 30초를 넘기지 않는다.</a:t>
            </a:r>
          </a:p>
          <a:p>
            <a:endParaRPr/>
          </a:p>
          <a:p>
            <a:r>
              <a:t>강조할 점: 결론이 세 가지이고, 각 결론마다 근거 수치를 하나씩 들고 왔다는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말할 것: 세 가지 질문으로 시작했다. 특히 두 번째 질문(매체 비교)은 강사 피드백에서 나온 요구였다.</a:t>
            </a:r>
          </a:p>
          <a:p>
            <a:endParaRPr/>
          </a:p>
          <a:p>
            <a:r>
              <a:t>마지막 줄이 이 발표의 예고편이다. 여기서 한 박자 쉬고 다음 장으로 넘어가면 좋다.</a:t>
            </a:r>
          </a:p>
          <a:p>
            <a:endParaRPr/>
          </a:p>
          <a:p>
            <a:r>
              <a:t>질문 대비: '왜 이 주제냐'고 물으면, 등급분류 데이터는 공개돼 있는데 매체를 가로지르는 비교가 없었고, 두 기관이 항목 이름을 비슷하게 쓰고 있어 비교 가능성이 있어 보였다고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말할 것: 표본이 아니라 전량이다. 기관이 알려주는 총 건수와 정확히 맞는 것을 확인했다.</a:t>
            </a:r>
          </a:p>
          <a:p>
            <a:endParaRPr/>
          </a:p>
          <a:p>
            <a:r>
              <a:t>자체등급분류 76,409건은 이 프로젝트에서 수집한 것이 아니라 다른 일을 하다 확보해 둔 파일이고, 약 7주치가 전부여서 추세 분석에는 쓰지 않고 규모 비교에만 썼다.</a:t>
            </a:r>
          </a:p>
          <a:p>
            <a:endParaRPr/>
          </a:p>
          <a:p>
            <a:r>
              <a:t>질문 대비: '왜 집에서 수집했나' → 사무실 회선에서 해당 기관 서버로 접속이 되지 않았다. 인증키 문제가 아니라 회선 문제였고, 집에서는 정상 수집되었다.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장이 분석의 전제다. 천천히 설명한다.</a:t>
            </a:r>
          </a:p>
          <a:p>
            <a:endParaRPr/>
          </a:p>
          <a:p>
            <a:r>
              <a:t>말할 것: 두 기관이 내용정보를 주는 방식이 아예 다르다. 영상물은 항목마다 점수가 있고, 게임물은 해당하는 항목 이름만 나열한다. 그래서 그대로는 비교가 안 된다.</a:t>
            </a:r>
          </a:p>
          <a:p>
            <a:endParaRPr/>
          </a:p>
          <a:p>
            <a:r>
              <a:t>핵심은 '이름이 같은 4개만 합쳤다'는 것. 대사와 언어는 이름이 비슷하지만 재는 대상이 달라서 합치지 않았다. 이건 강사 피드백에서 지적받은 부분이기도 하다.</a:t>
            </a:r>
          </a:p>
          <a:p>
            <a:endParaRPr/>
          </a:p>
          <a:p>
            <a:r>
              <a:t>질문 대비: '왜 3단계에서 잘랐나' → 4단계로 자르면 영상물은 4단계가 곧 청소년관람불가라 정의상 100%가 나와 비교가 성립하지 않는다. 3단계라는 선택 자체에 근거가 있는 것은 아니며, 이 한계는 뒤에서 다시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발표의 뼈대. 이 장에서 세 문장을 또박또박 말하고, 뒤 장에서 하나씩 근거를 댄다.</a:t>
            </a:r>
          </a:p>
          <a:p>
            <a:endParaRPr/>
          </a:p>
          <a:p>
            <a:r>
              <a:t>세 결론이 이어지는 순서가 중요하다. 1번은 '게임 규제의 실체가 무엇이냐', 2번은 '그런데 그 이야기가 게임물 전체에 해당하느냐', 3번은 '영상물은 아예 구조가 다르다' 로 이어진다.</a:t>
            </a:r>
          </a:p>
          <a:p>
            <a:endParaRPr/>
          </a:p>
          <a:p>
            <a:r>
              <a:t>청중이 한 문장만 기억한다면 결론 1이다.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말할 것: 청소년이용불가를 받은 게임물이 실제로 어떤 항목을 갖고 있었는지 센 것이다. 약 4분의 3이 사행성을 갖고 있다.</a:t>
            </a:r>
          </a:p>
          <a:p>
            <a:endParaRPr/>
          </a:p>
          <a:p>
            <a:r>
              <a:t>아래 줄이 더 중요하다. 사행성이 붙으면 95.3%가 청소년이용불가이고, 없으면 8.9%다. 다른 어떤 항목에서도 이만한 차이가 나지 않는다.</a:t>
            </a:r>
          </a:p>
          <a:p>
            <a:endParaRPr/>
          </a:p>
          <a:p>
            <a:r>
              <a:t>용어 설명이 필요하면: 사행성은 도박성, 즉 베팅 요소를 말한다. 웹보드 게임(고스톱·포커류)이 여기 해당한다.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말할 것: 앞 장은 '청불 게임이 무엇을 갖고 있었나'였고, 이 장은 반대 방향이다. '그 항목 하나만 가진 게임은 어떤 등급을 받았나'를 본 것이다.</a:t>
            </a:r>
          </a:p>
          <a:p>
            <a:endParaRPr/>
          </a:p>
          <a:p>
            <a:r>
              <a:t>사행성만 붙으면 97.1%가 청소년이용불가인데, 폭력성만 붙은 게임은 11.1%뿐이다. 열 개 중 아홉은 청소년도 이용할 수 있다는 뜻이다.</a:t>
            </a:r>
          </a:p>
          <a:p>
            <a:endParaRPr/>
          </a:p>
          <a:p>
            <a:r>
              <a:t>아래 문장은 데이터 품질 이야기다. 내용정보 칸이 빈 게 절반 가까이 되는데, 그 건들의 청불률이 0.06%라서 '기록을 안 한 것'이 아니라 '해당 요소가 없는 것'으로 판단했다.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말할 것: 결론 1은 위원회가 직접 심의한 게임물 이야기다. 그런데 게임물 등급분류는 두 경로로 이뤄진다. 위원회 심의와, 구글·애플 같은 사업자의 자체등급분류다.</a:t>
            </a:r>
          </a:p>
          <a:p>
            <a:endParaRPr/>
          </a:p>
          <a:p>
            <a:r>
              <a:t>같은 기간으로 맞춰 보니 위원회 207건 대 자체등급분류 76,409건, 약 369배 차이였다. 공개 API 로 볼 수 있는 건 전체의 0.27%뿐이다.</a:t>
            </a:r>
          </a:p>
          <a:p>
            <a:endParaRPr/>
          </a:p>
          <a:p>
            <a:r>
              <a:t>중요: 이 차이를 '사업자가 느슨하다'로 읽으면 안 된다. 자체등급분류에는 사행성 게임이 거의 없다(0.05% 대 23.2%). 애초에 들어오는 게임이 다르다.</a:t>
            </a:r>
          </a:p>
          <a:p>
            <a:endParaRPr/>
          </a:p>
          <a:p>
            <a:r>
              <a:t>질문 대비: '그럼 결론 1은 의미가 없나' → 아니다. 다만 '위원회가 직접 심의한 게임물'이라는 조건을 반드시 붙여야 한다는 뜻이고, 그 조건을 대시보드와 리포트에 모두 적어 두었다.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말할 것: 영상물은 항목마다 점수가 있으니, 그 점수와 등급의 관계를 보는 게 자연스러운 분석이다. 그런데 해 보니 관계가 아니라 항등식이었다.</a:t>
            </a:r>
          </a:p>
          <a:p>
            <a:endParaRPr/>
          </a:p>
          <a:p>
            <a:r>
              <a:t>가장 높은 점수가 1단계면 전부 전체관람가, 2단계면 전부 12세다. 99.93%가 그렇고, 표기 방식이 바뀐 2017년 5월 이후로는 예외가 하나도 없다.</a:t>
            </a:r>
          </a:p>
          <a:p>
            <a:endParaRPr/>
          </a:p>
          <a:p>
            <a:r>
              <a:t>이 발견의 의미: 원래 하려던 분석(내용정보로 등급 설명)이 무의미해졌다. 실제로 회귀분석을 돌렸더니 AUC 가 1.000 이 나왔는데, 모형이 좋아서가 아니라 정답을 미리 알려준 것이었다. 이걸 확인하고 분석 방향을 바꿨다.</a:t>
            </a:r>
          </a:p>
          <a:p>
            <a:endParaRPr/>
          </a:p>
          <a:p>
            <a:r>
              <a:t>AUC 설명이 필요하면: 1에 가까울수록 완벽히 맞힌다는 뜻이고, 1.000 은 현실 데이터에서 나올 수 없는 값이라 의심해야 한다고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말할 것: 앞 장에서 등급은 옮겨 적은 값이라고 했다. 그러면 이 자료에서 사람의 판단은 어디에 남아 있나. 신청등급이다.</a:t>
            </a:r>
          </a:p>
          <a:p>
            <a:endParaRPr/>
          </a:p>
          <a:p>
            <a:r>
              <a:t>신청인이 스스로 매긴 등급과 위원회가 결정한 등급이 갈리는 지점, 그게 12.2%다. 여기만 내용정보로 설명되지 않는다.</a:t>
            </a:r>
          </a:p>
          <a:p>
            <a:endParaRPr/>
          </a:p>
          <a:p>
            <a:r>
              <a:t>질문 대비: '상향률을 모형으로 설명해 봤나' → 내용정보와 종별·연도로 상향 여부를 예측하면 AUC 0.825 가 나온다. 신청등급 자체는 변수로 넣지 않았다. 넣으면 다시 항등식이 되기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말할 것: 강사 피드백의 핵심 요구가 '같은 내용 수준에서 매체 간 차이를 보라'는 것이었다. 이 장이 그 답이다.</a:t>
            </a:r>
          </a:p>
          <a:p>
            <a:endParaRPr/>
          </a:p>
          <a:p>
            <a:r>
              <a:t>보유 조합이 완전히 같은 건끼리만 비교했다. 예를 들어 '선정성만 있는 건'끼리, '폭력성과 공포가 있는 건'끼리 비교한 것이다. 비교 가능한 10개 조합 전부에서 게임물이 더 높았고 평균 15.1%p 차이였다.</a:t>
            </a:r>
          </a:p>
          <a:p>
            <a:endParaRPr/>
          </a:p>
          <a:p>
            <a:r>
              <a:t>한계를 반드시 같이 말한다. 이 결론은 '3단계 이상을 보유로 본다'는 기준 위에서만 성립한다. 발표에서 이 단서를 빼면 과장이 된다.</a:t>
            </a:r>
          </a:p>
          <a:p>
            <a:endParaRPr/>
          </a:p>
          <a:p>
            <a:r>
              <a:t>질문 대비: '왜 사행성은 비교에서 뺐나' → 영상물에 대응 항목이 없어서다. 넣으면 사행성 때문에 청불이 된 게임이 '항목 없음' 칸에 섞여 결과가 뒤집힌다. 영상물 쪽도 대칭으로 주제·대사·모방위험을 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말할 것: 세 결론 밖에서 따로 정리한 분석이다. 청소년 이용 제한 콘텐츠만 떼어 규모·추이·분포·항목·조합을 본 것이고, 산출물 ③번에 해당한다.</a:t>
            </a:r>
          </a:p>
          <a:p>
            <a:endParaRPr/>
          </a:p>
          <a:p>
            <a:r>
              <a:t>가장 조심해야 할 숫자가 영상물 43.7%다. 이건 성인물이 만든 숫자여서 그대로 인용하면 오해를 부른다. 성인물을 빼면 10.7%다.</a:t>
            </a:r>
          </a:p>
          <a:p>
            <a:endParaRPr/>
          </a:p>
          <a:p>
            <a:r>
              <a:t>질문 대비: '자체등급분류 83건은 뭐냐' → 사업자는 청소년이용불가 게임물을 자체분류할 수 없다. 그런데 83건이 남아 있다는 건 이 데이터가 '분류 시점의 등급'이 아니라 '현재 등급'을 보여준다는 뜻이다. 사후 조정의 흔적으로 읽었다.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말할 것: 산출물은 다섯 가지다. 화면에 URL 이 있으니 다음 장에서 직접 열어 보여 준다.</a:t>
            </a:r>
          </a:p>
          <a:p>
            <a:endParaRPr/>
          </a:p>
          <a:p>
            <a:r>
              <a:t>강조할 점: 손으로 옮겨 적은 숫자가 없다는 것. 리포트든 대시보드든 발표자료든 모두 같은 계산 결과를 읽어 오게 만들었다. 수집이 늘어나도 숫자가 어긋나지 않는다.</a:t>
            </a:r>
          </a:p>
          <a:p>
            <a:endParaRPr/>
          </a:p>
          <a:p>
            <a:r>
              <a:t>질문 대비: '데이터는 어디서 볼 수 있나' → 통합 Dataset 은 parquet 과 csv 로 있고, 열 정의를 적은 데이터 사전을 HTML 로 함께 만들어 두었다.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실제로 브라우저를 열어 보여 주는 것이 가장 효과적이다.</a:t>
            </a:r>
          </a:p>
          <a:p>
            <a:endParaRPr/>
          </a:p>
          <a:p>
            <a:r>
              <a:t>시연 순서 추천: ① 화면에서 대각선만 채워진 교차표를 보여 주고(결론 3), ④ 화면으로 넘어가 이진화 기준을 4단계로 바꿔 경고 문구가 뜨는 것을 보여 준다. '이 기준으로는 비교가 성립하지 않는다'는 것을 화면이 스스로 경고하도록 만들어 두었다.</a:t>
            </a:r>
          </a:p>
          <a:p>
            <a:endParaRPr/>
          </a:p>
          <a:p>
            <a:r>
              <a:t>주의: 무료 요금제라 한동안 접속이 없으면 앱이 대기 상태로 들어간다. 발표 시작 전에 미리 한 번 열어 두어야 한다. 첫 접속은 십여 초 걸린다.</a:t>
            </a:r>
          </a:p>
          <a:p>
            <a:endParaRPr/>
          </a:p>
          <a:p>
            <a:r>
              <a:t>질문 대비: '어떻게 배포했나' → GitHub 비공개 저장소에 올리고 Streamlit Cloud 에 연결했다. 화면이 쓰는 열만 남긴 사본을 따로 만들어 저장소에 넣었다.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말할 것: 한계를 숨기지 않는 게 이 발표의 신뢰도를 만든다. 네 가지를 짚는다.</a:t>
            </a:r>
          </a:p>
          <a:p>
            <a:endParaRPr/>
          </a:p>
          <a:p>
            <a:r>
              <a:t>특히 첫 번째(0.27%)와 세 번째(3단계 절단)는 결론을 인용할 때 반드시 따라붙어야 하는 단서다.</a:t>
            </a:r>
          </a:p>
          <a:p>
            <a:endParaRPr/>
          </a:p>
          <a:p>
            <a:r>
              <a:t>후속 과제는 '다음에 뭘 할 거냐'는 질문에 대한 답으로 준비해 둔 것이다. 두 자료 모두 사람이 쓴 설명문 칸이 있어서 텍스트 분석으로 이어갈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장이 발표의 인상을 결정한다. 실패를 숨기지 않고 원인을 설명하는 장이다.</a:t>
            </a:r>
          </a:p>
          <a:p>
            <a:endParaRPr/>
          </a:p>
          <a:p>
            <a:r>
              <a:t>첫 번째: 처음에는 내용정보로 등급을 예측하는 모형을 만들려고 했다. AUC 가 1.000 이 나왔고, 좋아하기 전에 이상하다고 생각해서 교차표를 찍어 봤더니 두 값이 같은 값이었다.</a:t>
            </a:r>
          </a:p>
          <a:p>
            <a:endParaRPr/>
          </a:p>
          <a:p>
            <a:r>
              <a:t>두 번째: 항목이 여러 개 겹칠수록 등급이 올라가는데 5개에서 꺾이는 결과가 나왔다. 성인물이 4개 구간에 89% 몰려 있어 생긴 착시였다. 심슨의 역설 사례다.</a:t>
            </a:r>
          </a:p>
          <a:p>
            <a:endParaRPr/>
          </a:p>
          <a:p>
            <a:r>
              <a:t>질문 대비: '심슨의 역설이 뭐냐' → 전체를 합쳐서 보면 한 방향인데 집단을 나눠 보면 반대 방향이 나오는 현상이라고 짧게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네 문장으로 정리하고 마친다.</a:t>
            </a:r>
          </a:p>
          <a:p>
            <a:endParaRPr/>
          </a:p>
          <a:p>
            <a:r>
              <a:t>질의응답에서 자주 나올 만한 것 정리:</a:t>
            </a:r>
          </a:p>
          <a:p>
            <a:r>
              <a:t>· 데이터는 어떻게 받았나 → 두 기관 공개 API, 전량, 기관 총 건수와 일치.</a:t>
            </a:r>
          </a:p>
          <a:p>
            <a:r>
              <a:t>· 왜 두 매체를 비교했나 → 강사 피드백에서 나온 요구이자, 두 기관이 같은 이름의 항목을 쓰고 있어 비교 가능성이 있었다.</a:t>
            </a:r>
          </a:p>
          <a:p>
            <a:r>
              <a:t>· 실무에 어떻게 쓰나 → 등급분류 결과를 인용할 때 '어느 경로의 분류분인지'를 함께 밝혀야 한다는 점, 그리고 공개 데이터만으로 게임물 전체를 말할 수 없다는 점.</a:t>
            </a:r>
          </a:p>
          <a:p>
            <a:r>
              <a:t>· 가장 어려웠던 점 → 수집 자체보다, 결과가 너무 깨끗해서 의심해야 했던 지점들.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rating-analysis-260910.streamlit.app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331720"/>
            <a:ext cx="2097522" cy="548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323" y="1937572"/>
            <a:ext cx="10058400" cy="34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BI </a:t>
            </a:r>
            <a:r>
              <a:rPr sz="13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분석가</a:t>
            </a:r>
            <a:r>
              <a:rPr sz="13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과정</a:t>
            </a:r>
            <a:r>
              <a:rPr sz="13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개인</a:t>
            </a:r>
            <a:r>
              <a:rPr sz="13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프로젝트</a:t>
            </a:r>
            <a:endParaRPr sz="1300" b="0" dirty="0">
              <a:solidFill>
                <a:srgbClr val="6B728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청소년</a:t>
            </a:r>
            <a:r>
              <a:rPr sz="4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40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이용</a:t>
            </a:r>
            <a:r>
              <a:rPr sz="4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40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제한</a:t>
            </a:r>
            <a:r>
              <a:rPr sz="4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40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등급은</a:t>
            </a:r>
            <a:endParaRPr sz="4000" b="1" dirty="0">
              <a:solidFill>
                <a:srgbClr val="1F3864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무엇을</a:t>
            </a:r>
            <a:r>
              <a:rPr sz="4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40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기준으로</a:t>
            </a:r>
            <a:r>
              <a:rPr sz="4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40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결정되는가</a:t>
            </a:r>
            <a:endParaRPr sz="4000" b="1" dirty="0">
              <a:solidFill>
                <a:srgbClr val="1F3864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515600" cy="41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게임물·영상물 등급분류 공공데이터 240,290건 전량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63274" y="5743925"/>
            <a:ext cx="3902062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b="1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2026. 09. 14.   </a:t>
            </a:r>
            <a:r>
              <a:rPr b="1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최은혜</a:t>
            </a:r>
            <a:endParaRPr b="1" dirty="0">
              <a:solidFill>
                <a:srgbClr val="6B728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0352"/>
            <a:ext cx="11247120" cy="547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발표</a:t>
            </a:r>
            <a:r>
              <a:rPr sz="26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순서</a:t>
            </a:r>
            <a:endParaRPr sz="2600" b="1" dirty="0">
              <a:solidFill>
                <a:srgbClr val="1F3864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498266"/>
              </p:ext>
            </p:extLst>
          </p:nvPr>
        </p:nvGraphicFramePr>
        <p:xfrm>
          <a:off x="548640" y="1764792"/>
          <a:ext cx="1106424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4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7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순서</a:t>
                      </a:r>
                      <a:endParaRPr sz="1300" b="1" dirty="0">
                        <a:solidFill>
                          <a:srgbClr val="1F3864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내용</a:t>
                      </a:r>
                      <a:endParaRPr sz="1300" b="1" dirty="0">
                        <a:solidFill>
                          <a:srgbClr val="1F3864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핵심</a:t>
                      </a:r>
                      <a:r>
                        <a:rPr sz="1300" b="1" dirty="0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숫자</a:t>
                      </a:r>
                      <a:endParaRPr sz="1300" b="1" dirty="0">
                        <a:solidFill>
                          <a:srgbClr val="1F3864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1.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주제와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데이터</a:t>
                      </a:r>
                      <a:endParaRPr sz="130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왜 이 주제인가 · 무엇을 얼마나 모았는가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240,290건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2.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결론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1 ·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게임물</a:t>
                      </a:r>
                      <a:endParaRPr sz="130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청소년이용불가를 만드는 것은 사행성이다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76.3%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3. 결론 2 · 공개 범위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위원회 심의는 전체의 일부다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0.27%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4. 결론 3 · 영상물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등급은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내용정보의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최고값과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같다</a:t>
                      </a:r>
                      <a:endParaRPr sz="130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99.93%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5. 매체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같은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조건에서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게임물이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더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엄격하다</a:t>
                      </a:r>
                      <a:endParaRPr sz="130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+15.1%p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6. 산출물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데이터셋·EDA·특성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분석·대시보드·리포트</a:t>
                      </a:r>
                      <a:endParaRPr sz="130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5종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7. 한계와 배운 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무엇을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못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했고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어떤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결론을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폐기했는가</a:t>
                      </a:r>
                      <a:endParaRPr sz="130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2건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폐기</a:t>
                      </a:r>
                      <a:endParaRPr sz="130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54864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1.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주제와</a:t>
            </a: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데이터</a:t>
            </a:r>
            <a:endParaRPr sz="1100" b="0" dirty="0">
              <a:solidFill>
                <a:srgbClr val="6B728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왜 이 </a:t>
            </a:r>
            <a:r>
              <a:rPr sz="2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주제인가</a:t>
            </a:r>
            <a:endParaRPr sz="2600" b="1" dirty="0">
              <a:solidFill>
                <a:srgbClr val="1F3864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게임물과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영상물은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각각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다른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기관이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등급을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매기고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, 그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결과를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공개한다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그런데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두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자료를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한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표에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놓고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비교한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분석은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찾기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어렵다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959760"/>
              </p:ext>
            </p:extLst>
          </p:nvPr>
        </p:nvGraphicFramePr>
        <p:xfrm>
          <a:off x="548640" y="2743200"/>
          <a:ext cx="11064240" cy="1892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분석</a:t>
                      </a:r>
                      <a:r>
                        <a:rPr sz="1300" b="1" dirty="0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질문</a:t>
                      </a:r>
                      <a:endParaRPr sz="1300" b="1" dirty="0">
                        <a:solidFill>
                          <a:srgbClr val="1F3864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확인 방법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청소년 이용을 제한하는 등급은 무엇을 근거로 결정되는가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등급과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내용정보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7개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항목의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대응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관계를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전량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교차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확인</a:t>
                      </a:r>
                      <a:endParaRPr sz="130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매체에 따라 판정이 달라지는가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명칭이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같은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4개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항목만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남겨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동일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조건에서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비교</a:t>
                      </a:r>
                      <a:endParaRPr sz="130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공개된 데이터로 '게임물 전체'를 말할 수 있는가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위원회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심의분과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사업자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자체등급분류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물량을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같은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기간으로</a:t>
                      </a:r>
                      <a:r>
                        <a:rPr sz="130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비교</a:t>
                      </a:r>
                      <a:endParaRPr sz="130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11064240" cy="919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통상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게임물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규제의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이유로는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폭력성과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선정성이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언급</a:t>
            </a:r>
            <a:r>
              <a:rPr lang="ko-KR" altLang="en-US" sz="2000" b="1" spc="-15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되지만</a:t>
            </a:r>
            <a:r>
              <a:rPr lang="en-US" altLang="ko-KR" sz="2000" b="1" spc="-15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,</a:t>
            </a:r>
            <a:endParaRPr lang="en-US" sz="2000" b="1" spc="-150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2000" b="1" spc="-150" dirty="0" err="1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데이터의</a:t>
            </a:r>
            <a:r>
              <a:rPr sz="2000" b="1" spc="-15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답은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달랐다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69281" y="651316"/>
            <a:ext cx="615198" cy="55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16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16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20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20</a:t>
            </a:r>
            <a:endParaRPr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54864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1. 주제와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무엇을</a:t>
            </a:r>
            <a:r>
              <a:rPr sz="26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얼마나</a:t>
            </a:r>
            <a:r>
              <a:rPr sz="26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모았는가</a:t>
            </a:r>
            <a:endParaRPr sz="2600" b="1" dirty="0">
              <a:solidFill>
                <a:srgbClr val="1F3864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950634"/>
              </p:ext>
            </p:extLst>
          </p:nvPr>
        </p:nvGraphicFramePr>
        <p:xfrm>
          <a:off x="548640" y="1463040"/>
          <a:ext cx="11064240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구분</a:t>
                      </a:r>
                      <a:endParaRPr sz="1250" b="1" dirty="0">
                        <a:solidFill>
                          <a:srgbClr val="1F3864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출처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건수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기간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역할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영상물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영상물등급위원회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Open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134,464건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2009~2026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분석 대상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게임물(위원회)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게임물관리위원회 Open API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29,417건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2007~2026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분석 대상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게임물(자체등급분류)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별도 업무에서 확보한 파일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76,409건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2026-07~08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비교군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통합 분석 Dataset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위 셋을 한 표로 통합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240,290행 × 35열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2007~2026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산출물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①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23360"/>
            <a:ext cx="11064240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수집</a:t>
            </a:r>
            <a:r>
              <a:rPr sz="16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1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과정에서</a:t>
            </a:r>
            <a:r>
              <a:rPr sz="16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1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막혔던</a:t>
            </a:r>
            <a:r>
              <a:rPr sz="16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두 </a:t>
            </a:r>
            <a:r>
              <a:rPr sz="1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가지</a:t>
            </a:r>
            <a:endParaRPr sz="1600" b="1" dirty="0">
              <a:solidFill>
                <a:srgbClr val="1F3864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11064240" cy="1746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400" b="1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영상물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: 약 99,000건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지점부터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조회가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거부</a:t>
            </a:r>
            <a:r>
              <a:rPr lang="ko-KR" altLang="en-US"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되어</a:t>
            </a:r>
            <a:r>
              <a:rPr lang="en-US" altLang="ko-KR"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,</a:t>
            </a:r>
            <a:r>
              <a:rPr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페이지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대신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기간을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나눠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요청하는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방식으로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바꿔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전량을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받았다</a:t>
            </a:r>
            <a:r>
              <a:rPr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  <a:endParaRPr sz="1400" b="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</a:t>
            </a:r>
            <a:r>
              <a:rPr sz="1400" b="1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1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게임물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: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사무실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회선에서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기관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서버에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접속되지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않아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집에서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수집하였다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  <a:endParaRPr lang="en-US" sz="1400" b="0" dirty="0" smtClean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sz="140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sz="140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            </a:t>
            </a:r>
            <a:r>
              <a:rPr sz="1400" b="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순차</a:t>
            </a:r>
            <a:r>
              <a:rPr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호출·요청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상한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등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안전장치를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걸고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월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단위로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나눠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받았다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endParaRPr lang="en-US" sz="1400" b="0" dirty="0" smtClean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두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매체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모두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기관이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제공하는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총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건수와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수집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건수가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정확히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일치한다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69281" y="651316"/>
            <a:ext cx="615198" cy="55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16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16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20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20</a:t>
            </a:r>
            <a:endParaRPr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54864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1. 주제와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두 </a:t>
            </a:r>
            <a:r>
              <a:rPr sz="2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기관의</a:t>
            </a:r>
            <a:r>
              <a:rPr sz="26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자료를</a:t>
            </a:r>
            <a:r>
              <a:rPr sz="26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어떻게</a:t>
            </a:r>
            <a:r>
              <a:rPr sz="26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한 </a:t>
            </a:r>
            <a:r>
              <a:rPr sz="2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표로</a:t>
            </a:r>
            <a:r>
              <a:rPr sz="26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6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합쳤는가</a:t>
            </a:r>
            <a:endParaRPr sz="2600" b="1" dirty="0">
              <a:solidFill>
                <a:srgbClr val="1F3864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02112"/>
              </p:ext>
            </p:extLst>
          </p:nvPr>
        </p:nvGraphicFramePr>
        <p:xfrm>
          <a:off x="548640" y="1463040"/>
          <a:ext cx="11064240" cy="2432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endParaRPr dirty="0"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영상물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게임물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내용정보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제공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형태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항목마다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1~5단계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수준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해당 항목의 이름만 나열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항목 구성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주제·선정성·폭력성·대사·공포·약물·모방위험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선정성·폭력성·공포·약물·언어·범죄·사행성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통합한 항목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선정성·폭력성·공포·약물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4개만 (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명칭이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동일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좌동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통합하지 않은 항목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주제·대사·모방위험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언어·범죄·사행성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97680"/>
            <a:ext cx="11829214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명칭이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같은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4개만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같은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칸에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넣었</a:t>
            </a:r>
            <a:r>
              <a:rPr lang="ko-KR" altLang="en-US" sz="1400" b="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으며</a:t>
            </a:r>
            <a:r>
              <a:rPr lang="ko-KR" altLang="en-US"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대사와</a:t>
            </a:r>
            <a:r>
              <a:rPr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언어처럼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비슷해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보이는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항목도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ko-KR" altLang="en-US" sz="140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측정</a:t>
            </a:r>
            <a:r>
              <a:rPr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대상이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달라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합치지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않았다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  <a:endParaRPr lang="en-US" sz="1400" b="0" dirty="0" smtClean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영상물의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1~5단계는 3단계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이상을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'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보유'로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보아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게임물의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보유·미보유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체계에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맞췄다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원래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단계값도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함께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보관해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두었다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비교에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쓸 수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있는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건은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154,328</a:t>
            </a:r>
            <a:r>
              <a:rPr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건</a:t>
            </a:r>
            <a:r>
              <a:rPr lang="ko-KR" altLang="en-US" sz="1400" b="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으로</a:t>
            </a:r>
            <a:r>
              <a:rPr lang="en-US" altLang="ko-KR"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, </a:t>
            </a:r>
            <a:r>
              <a:rPr sz="1400" b="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제외</a:t>
            </a:r>
            <a:r>
              <a:rPr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대상은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지우지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않고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표시만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해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두었다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69281" y="651316"/>
            <a:ext cx="615198" cy="55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16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16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20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20</a:t>
            </a:r>
            <a:endParaRPr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결론 세 가지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804703"/>
            <a:ext cx="10058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결론</a:t>
            </a:r>
            <a:r>
              <a:rPr sz="12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749839"/>
            <a:ext cx="6035040" cy="765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게임물의</a:t>
            </a:r>
            <a:r>
              <a:rPr sz="1550" b="1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1550" b="1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청소년이용불가를</a:t>
            </a:r>
            <a:r>
              <a:rPr sz="1550" b="1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1550" b="1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결정하는</a:t>
            </a:r>
            <a:r>
              <a:rPr sz="1550" b="1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1550" b="1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것은</a:t>
            </a:r>
            <a:endParaRPr sz="1550" b="1" dirty="0">
              <a:solidFill>
                <a:srgbClr val="1F2328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폭력성이나</a:t>
            </a:r>
            <a:r>
              <a:rPr sz="1550" b="1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1550" b="1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선정성이</a:t>
            </a:r>
            <a:r>
              <a:rPr sz="1550" b="1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1550" b="1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아니라</a:t>
            </a:r>
            <a:r>
              <a:rPr sz="1550" b="1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1550" b="1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사행성이다</a:t>
            </a:r>
            <a:endParaRPr sz="1550" b="1" dirty="0">
              <a:solidFill>
                <a:srgbClr val="1F2328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63839" y="1749839"/>
            <a:ext cx="201168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76.3%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1846019"/>
            <a:ext cx="1828800" cy="573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청소년이용불가 게임물 중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사행성 보유 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96343"/>
            <a:ext cx="10058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결론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441479"/>
            <a:ext cx="6035040" cy="765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그런데 위원회 심의 대상은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게임물 등급분류 전체의 일부에 불과하다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39" y="3441479"/>
            <a:ext cx="201168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0.27%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3537659"/>
            <a:ext cx="1828800" cy="573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같은 기간 위원회 심의가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차지하는 비중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87983"/>
            <a:ext cx="10058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결론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133119"/>
            <a:ext cx="6035040" cy="765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영상물의 등급은 내용정보 7개 항목의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최고값과 사실상 동일하다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39" y="5133119"/>
            <a:ext cx="201168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99.93%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5229299"/>
            <a:ext cx="1828800" cy="573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최고값과</a:t>
            </a:r>
            <a:r>
              <a:rPr sz="105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05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결정등급이</a:t>
            </a:r>
            <a:endParaRPr sz="1050" b="0" dirty="0">
              <a:solidFill>
                <a:srgbClr val="6B728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일치하는</a:t>
            </a:r>
            <a:r>
              <a:rPr sz="105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05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비율</a:t>
            </a:r>
            <a:endParaRPr sz="1050" b="0" dirty="0">
              <a:solidFill>
                <a:srgbClr val="6B728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369281" y="651316"/>
            <a:ext cx="615198" cy="55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16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16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20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20</a:t>
            </a:r>
            <a:endParaRPr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18" name="직선 화살표 연결선 17"/>
          <p:cNvCxnSpPr>
            <a:endCxn id="5" idx="3"/>
          </p:cNvCxnSpPr>
          <p:nvPr/>
        </p:nvCxnSpPr>
        <p:spPr>
          <a:xfrm>
            <a:off x="4889241" y="2127868"/>
            <a:ext cx="2700279" cy="4768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4889241" y="3841768"/>
            <a:ext cx="2700279" cy="4768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4889241" y="5511814"/>
            <a:ext cx="2700279" cy="4768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54864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2.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결론</a:t>
            </a: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1 ·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게임물</a:t>
            </a:r>
            <a:endParaRPr sz="1100" b="0" dirty="0">
              <a:solidFill>
                <a:srgbClr val="6B728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청소년이용불가 게임물은 무엇을 갖고 있었는가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pic>
        <p:nvPicPr>
          <p:cNvPr id="5" name="Picture 4" descr="comp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16598"/>
            <a:ext cx="7852862" cy="3708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67126" y="1616598"/>
            <a:ext cx="402336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청소년이용불가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게임물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8,223건 중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76.3%가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사행성을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보유한다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sz="1600" b="0" spc="-15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폭력성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18.3</a:t>
            </a:r>
            <a:r>
              <a:rPr sz="1600" b="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%,</a:t>
            </a:r>
            <a:r>
              <a:rPr lang="en-US" sz="1600" b="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선정성</a:t>
            </a:r>
            <a:r>
              <a:rPr sz="1600" b="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17.0%와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b="0" spc="-15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차이가</a:t>
            </a:r>
            <a:r>
              <a:rPr sz="1600" b="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크다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sz="1600" b="0" spc="-15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한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건이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여러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항목을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보유할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수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있어</a:t>
            </a:r>
            <a:endParaRPr sz="1600" b="0" spc="-15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합계는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100%를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넘는다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33613"/>
            <a:ext cx="10972800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20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사행성</a:t>
            </a:r>
            <a:r>
              <a:rPr sz="2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보유</a:t>
            </a:r>
            <a:r>
              <a:rPr sz="2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게임물의</a:t>
            </a:r>
            <a:r>
              <a:rPr sz="2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청소년이용불가</a:t>
            </a:r>
            <a:r>
              <a:rPr sz="2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비율</a:t>
            </a:r>
            <a:r>
              <a:rPr sz="2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95.3%   ·   </a:t>
            </a:r>
            <a:r>
              <a:rPr sz="20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미보유</a:t>
            </a:r>
            <a:r>
              <a:rPr sz="2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시 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69281" y="651316"/>
            <a:ext cx="615198" cy="55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16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16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20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20</a:t>
            </a:r>
            <a:endParaRPr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54864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2.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결론</a:t>
            </a: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1 ·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게임물</a:t>
            </a:r>
            <a:endParaRPr sz="1100" b="0" dirty="0">
              <a:solidFill>
                <a:srgbClr val="6B728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항목을 하나만 가진 건으로 좁혀도 같다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pic>
        <p:nvPicPr>
          <p:cNvPr id="5" name="Picture 4" descr="s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949440" cy="308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554480"/>
            <a:ext cx="393192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다른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항목이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섞이지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않은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건만</a:t>
            </a:r>
            <a:endParaRPr sz="1600" spc="-15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모아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비교한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것이다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sz="1600" spc="-15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사행성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단독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97.1%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선정성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단독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55.6%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폭력성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단독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11.1%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sz="1600" spc="-15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같은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'</a:t>
            </a: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항목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하나'인데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spc="-15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결과</a:t>
            </a:r>
            <a:r>
              <a:rPr lang="ko-KR" altLang="en-US" sz="160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는</a:t>
            </a:r>
            <a:r>
              <a:rPr lang="ko-KR" altLang="en-US"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spc="-15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전혀</a:t>
            </a:r>
            <a:r>
              <a:rPr sz="160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다르다</a:t>
            </a:r>
            <a:r>
              <a:rPr sz="16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55313"/>
            <a:ext cx="109728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게임물은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수준이라는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개념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없이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어떤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항목이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붙었는지로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등급이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갈린다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내용정보가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비어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있는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13,993건의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청소년이용불가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비율은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0.06%로, </a:t>
            </a:r>
            <a:endParaRPr lang="en-US" sz="2000" b="0" spc="-150" dirty="0" smtClean="0">
              <a:solidFill>
                <a:srgbClr val="1F2328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2000" b="0" spc="-150" dirty="0" err="1" smtClean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미기재가</a:t>
            </a:r>
            <a:r>
              <a:rPr sz="2000" b="0" spc="-150" dirty="0" smtClean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아니라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'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해당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요소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없음'으로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볼 수 </a:t>
            </a:r>
            <a:r>
              <a:rPr sz="2000" b="0" spc="-15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있다</a:t>
            </a:r>
            <a:r>
              <a:rPr sz="2000" b="0" spc="-15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69281" y="651316"/>
            <a:ext cx="615198" cy="55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16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16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20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20</a:t>
            </a:r>
            <a:endParaRPr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5486400" cy="29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3.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결론</a:t>
            </a: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2 ·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공개</a:t>
            </a: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범위</a:t>
            </a:r>
            <a:endParaRPr sz="1100" b="0" dirty="0">
              <a:solidFill>
                <a:srgbClr val="6B728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47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그런데 이 이야기는 게임물 전체가 아니다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23851" y="1510761"/>
            <a:ext cx="402336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0.27%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8171" y="2532469"/>
            <a:ext cx="402336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같은</a:t>
            </a:r>
            <a:r>
              <a:rPr sz="12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기간</a:t>
            </a:r>
            <a:r>
              <a:rPr sz="12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전체</a:t>
            </a:r>
            <a:r>
              <a:rPr sz="12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등급분류</a:t>
            </a:r>
            <a:r>
              <a:rPr sz="12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dirty="0" smtClean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중</a:t>
            </a:r>
          </a:p>
          <a:p>
            <a:pPr algn="l">
              <a:spcAft>
                <a:spcPts val="600"/>
              </a:spcAft>
            </a:pPr>
            <a:r>
              <a:rPr sz="1200" b="0" dirty="0" err="1" smtClean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위원회</a:t>
            </a:r>
            <a:r>
              <a:rPr sz="1200" b="0" dirty="0" smtClean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dirty="0" err="1" smtClean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심의가</a:t>
            </a:r>
            <a:r>
              <a:rPr sz="1200" b="0" dirty="0" smtClean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dirty="0" err="1" smtClean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차지하는</a:t>
            </a:r>
            <a:r>
              <a:rPr sz="1200" b="0" dirty="0" smtClean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dirty="0" err="1" smtClean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비중</a:t>
            </a:r>
            <a:endParaRPr sz="1200" b="0" dirty="0">
              <a:solidFill>
                <a:srgbClr val="6B728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749581"/>
              </p:ext>
            </p:extLst>
          </p:nvPr>
        </p:nvGraphicFramePr>
        <p:xfrm>
          <a:off x="4937760" y="1586204"/>
          <a:ext cx="6675120" cy="18610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3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구분</a:t>
                      </a:r>
                      <a:endParaRPr sz="1250" b="1" dirty="0">
                        <a:solidFill>
                          <a:srgbClr val="1F3864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건수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청소년이용불가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위원회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심의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(2026-07-01~2026-08-19)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207건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29.7% (전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기간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사업자 자체등급분류 (같은 기간)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76,409건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0.11%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차이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약 369배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endParaRPr dirty="0"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icture 7" descr="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39215"/>
            <a:ext cx="10607040" cy="14654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60720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19년간의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위원회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분류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건수보다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7주간의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자체등급분류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건수가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더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많다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. </a:t>
            </a:r>
            <a:r>
              <a:rPr lang="en-US" sz="200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/>
            </a:r>
            <a:br>
              <a:rPr lang="en-US" sz="200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</a:br>
            <a:r>
              <a:rPr lang="ko-KR" altLang="en-US" sz="2000" dirty="0" smtClean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단</a:t>
            </a:r>
            <a:r>
              <a:rPr lang="en-US" altLang="ko-KR" sz="2000" dirty="0" smtClean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</a:t>
            </a:r>
            <a:r>
              <a:rPr sz="2000" b="0" dirty="0" smtClean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두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경로에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들어오는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게임물의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성격이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달라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심의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엄격도의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차이로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해석해서는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안 </a:t>
            </a:r>
            <a:r>
              <a:rPr sz="2000" b="0" dirty="0" err="1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된다</a:t>
            </a:r>
            <a:r>
              <a:rPr sz="2000" b="0" dirty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54864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4.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결론</a:t>
            </a: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3 ·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영상물</a:t>
            </a:r>
            <a:endParaRPr sz="1100" b="0" dirty="0">
              <a:solidFill>
                <a:srgbClr val="6B728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영상물은 등급 결정 구조가 아예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영상물은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내용정보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7개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항목에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각각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1~5단계를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부여한다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그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최고값을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그대로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등급에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대응시켜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보았다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485706"/>
              </p:ext>
            </p:extLst>
          </p:nvPr>
        </p:nvGraphicFramePr>
        <p:xfrm>
          <a:off x="1257766" y="2384904"/>
          <a:ext cx="694944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내용정보</a:t>
                      </a:r>
                      <a:r>
                        <a:rPr sz="1250" b="1" dirty="0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1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최고값</a:t>
                      </a:r>
                      <a:endParaRPr sz="1250" b="1" dirty="0">
                        <a:solidFill>
                          <a:srgbClr val="1F3864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대응하는 관람등급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1단계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전체관람가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2단계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12세이상관람가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3단계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15세이상관람가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4단계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청소년관람불가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5단계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제한관람가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022080" y="2279230"/>
            <a:ext cx="25908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99.93%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205" y="3273552"/>
            <a:ext cx="359166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600" b="1" spc="-15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134,462건 중 134,364</a:t>
            </a:r>
            <a:r>
              <a:rPr sz="1600" b="1" spc="-150" dirty="0" smtClean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건이</a:t>
            </a:r>
            <a:r>
              <a:rPr lang="en-US" sz="1600" b="1" spc="-150" dirty="0" smtClean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1" spc="-150" dirty="0" smtClean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이 </a:t>
            </a:r>
            <a:r>
              <a:rPr sz="1600" b="1" spc="-15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규칙에</a:t>
            </a:r>
            <a:r>
              <a:rPr sz="1600" b="1" spc="-15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1" spc="-150" dirty="0" err="1" smtClean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부합</a:t>
            </a:r>
            <a:endParaRPr sz="1600" b="1" spc="-150" dirty="0">
              <a:solidFill>
                <a:srgbClr val="6B728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87357" y="3716568"/>
            <a:ext cx="56381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1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표기</a:t>
            </a:r>
            <a:r>
              <a:rPr sz="1600" b="1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1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체계가</a:t>
            </a:r>
            <a:r>
              <a:rPr sz="1600" b="1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1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바뀐</a:t>
            </a:r>
            <a:r>
              <a:rPr sz="1600" b="1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2017년 5월 </a:t>
            </a:r>
            <a:r>
              <a:rPr sz="1600" b="1" spc="-15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이후</a:t>
            </a:r>
            <a:r>
              <a:rPr lang="en-US" sz="1600" b="1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sz="1600" b="1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/>
            </a:r>
            <a:br>
              <a:rPr lang="en-US" sz="1600" b="1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sz="1600" b="1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94,516</a:t>
            </a:r>
            <a:r>
              <a:rPr sz="1600" b="1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건에서는 </a:t>
            </a:r>
            <a:r>
              <a:rPr sz="1600" b="1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예외가</a:t>
            </a:r>
            <a:r>
              <a:rPr sz="1600" b="1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0건이다.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384" y="5368679"/>
            <a:ext cx="1106424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등급은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산정된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값이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아니라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최고값을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옮겨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적은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값이다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  <a:r>
              <a:rPr lang="en-US"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/>
            </a:r>
            <a:br>
              <a:rPr lang="en-US"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sz="2000" b="1" spc="-150" dirty="0" err="1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따라서</a:t>
            </a:r>
            <a:r>
              <a:rPr sz="2000" b="1" spc="-15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내용정보로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등급을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설명하는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분석은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성립하지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않는</a:t>
            </a:r>
            <a:r>
              <a:rPr lang="ko-KR" altLang="en-US" sz="2000" b="1" spc="-15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데</a:t>
            </a:r>
            <a:r>
              <a:rPr lang="en-US" altLang="ko-KR" sz="2000" b="1" spc="-15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, </a:t>
            </a:r>
            <a:r>
              <a:rPr lang="ko-KR" altLang="en-US" sz="2000" b="1" spc="-15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이는</a:t>
            </a:r>
            <a:r>
              <a:rPr sz="2000" b="1" spc="-15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같은</a:t>
            </a:r>
            <a:r>
              <a:rPr sz="2000" b="1" spc="-15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값을</a:t>
            </a:r>
            <a:r>
              <a:rPr sz="2000" b="1" spc="-15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두 번 </a:t>
            </a:r>
            <a:r>
              <a:rPr sz="2000" b="1" spc="-150" dirty="0" err="1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쓰는</a:t>
            </a:r>
            <a:r>
              <a:rPr sz="2000" b="1" spc="-15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것이기</a:t>
            </a:r>
            <a:r>
              <a:rPr sz="2000" b="1" spc="-15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때문이다</a:t>
            </a:r>
            <a:r>
              <a:rPr sz="2000" b="1" spc="-15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  <a:endParaRPr sz="2000" b="1" spc="-150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3702667" y="2224244"/>
            <a:ext cx="7789537" cy="1670110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430794" y="2225122"/>
            <a:ext cx="2816259" cy="1670110"/>
          </a:xfrm>
          <a:prstGeom prst="roundRect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310896"/>
            <a:ext cx="54864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4.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결론</a:t>
            </a: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3 ·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영상물</a:t>
            </a:r>
            <a:endParaRPr sz="1100" b="0" dirty="0">
              <a:solidFill>
                <a:srgbClr val="6B728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판단이 개입하는 유일한 영역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323921"/>
            <a:ext cx="4023360" cy="1142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0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12.2%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11473"/>
            <a:ext cx="402336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 dirty="0" err="1">
                <a:solidFill>
                  <a:schemeClr val="bg1">
                    <a:lumMod val="75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신청등급과</a:t>
            </a:r>
            <a:r>
              <a:rPr sz="1200" b="0" dirty="0">
                <a:solidFill>
                  <a:schemeClr val="bg1">
                    <a:lumMod val="75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1200" b="0" dirty="0" err="1" smtClean="0">
                <a:solidFill>
                  <a:schemeClr val="bg1">
                    <a:lumMod val="75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결정등급이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1200" b="0" dirty="0" err="1" smtClean="0">
                <a:solidFill>
                  <a:schemeClr val="bg1">
                    <a:lumMod val="75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달라진</a:t>
            </a:r>
            <a:r>
              <a:rPr sz="1200" b="0" dirty="0" smtClean="0">
                <a:solidFill>
                  <a:schemeClr val="bg1">
                    <a:lumMod val="75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sz="1200" b="0" dirty="0" err="1">
                <a:solidFill>
                  <a:schemeClr val="bg1">
                    <a:lumMod val="75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비율</a:t>
            </a:r>
            <a:endParaRPr sz="1200" b="0" dirty="0">
              <a:solidFill>
                <a:schemeClr val="bg1">
                  <a:lumMod val="75000"/>
                </a:schemeClr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5536" y="2263541"/>
            <a:ext cx="74371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상향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8.6% ·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하향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3.6%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신청등급은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신청인이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스스로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판단해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적어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낸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값이므로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결정등급과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같은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값이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아니다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12세로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신청한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건의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28.2%가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상향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조정되었다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신청인이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등급을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가장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낮게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예측하는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구간이다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반대로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청소년관람불가로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신청하면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더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올라갈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여지가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없어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조정이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드물다</a:t>
            </a:r>
            <a:r>
              <a:rPr sz="1600" b="0" spc="-150" dirty="0">
                <a:solidFill>
                  <a:schemeClr val="bg1">
                    <a:lumMod val="85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" y="4805365"/>
            <a:ext cx="109728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내용정보와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결정등급은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같은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값이라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서로를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설명하지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못한다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이 12.2%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구간이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자료에서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심의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판단을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확인할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수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있는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유일한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spc="-150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영역이다</a:t>
            </a:r>
            <a:r>
              <a:rPr sz="2000" b="1" spc="-15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54864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5. 매체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같은 조건에서 비교하면 게임물이 더 엄격하다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pic>
        <p:nvPicPr>
          <p:cNvPr id="5" name="Picture 4" descr="com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675120" cy="36156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8038" y="1714967"/>
            <a:ext cx="384048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명칭이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같은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4개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항목의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보유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조합이</a:t>
            </a:r>
            <a:endParaRPr sz="1600" b="0" spc="-15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완전히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같은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건끼리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비교하였다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sz="1600" b="0" spc="-15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비교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가능한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10개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조합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전부에서</a:t>
            </a:r>
            <a:endParaRPr sz="1600" b="0" spc="-15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게임물의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제한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비율이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높다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sz="1600" b="0" spc="-15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평균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차이</a:t>
            </a:r>
            <a:r>
              <a:rPr sz="16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+15.1%p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464" y="4935972"/>
            <a:ext cx="11422536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altLang="en-US" sz="2000" b="1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단</a:t>
            </a:r>
            <a:r>
              <a:rPr lang="en-US" altLang="ko-KR" sz="2000" b="1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b="0" spc="-15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영상물의</a:t>
            </a:r>
            <a:r>
              <a:rPr b="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5단계를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게임물의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보유·미보유에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맞추려면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어딘가에서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잘라야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하는데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, 그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지점은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데이터로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정해지지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않는다</a:t>
            </a:r>
            <a:r>
              <a:rPr b="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  <a:r>
              <a:rPr lang="en-US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/>
            </a:r>
            <a:br>
              <a:rPr lang="en-US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b="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3단계로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자르면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위와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같고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, 4단계로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자르면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영상물이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정의상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100%가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되어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비교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자체가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성립하지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않는다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따라서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'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게임물이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더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엄격하다'는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문장은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절단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기준을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함께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적어야만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쓸 수 </a:t>
            </a:r>
            <a:r>
              <a:rPr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있다</a:t>
            </a:r>
            <a:r>
              <a:rPr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69281" y="651316"/>
            <a:ext cx="615198" cy="55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16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16</a:t>
            </a: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endParaRPr lang="en-US" sz="2000" b="1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en-US" sz="20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20</a:t>
            </a:r>
            <a:endParaRPr sz="2000" b="1" dirty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54864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5.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매체</a:t>
            </a: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비교</a:t>
            </a:r>
            <a:endParaRPr sz="1100" b="0" dirty="0">
              <a:solidFill>
                <a:srgbClr val="6B728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청소년 이용 제한 콘텐츠의 특성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968494"/>
              </p:ext>
            </p:extLst>
          </p:nvPr>
        </p:nvGraphicFramePr>
        <p:xfrm>
          <a:off x="548640" y="1463040"/>
          <a:ext cx="11064238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1" spc="-150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구분</a:t>
                      </a:r>
                      <a:endParaRPr sz="1400" b="1" spc="-150" dirty="0">
                        <a:solidFill>
                          <a:srgbClr val="1F3864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1" spc="-150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건수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1" spc="-150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제한 건수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1" spc="-150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비율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게임물</a:t>
                      </a:r>
                      <a:r>
                        <a:rPr sz="1400" b="0" spc="-15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· </a:t>
                      </a:r>
                      <a:r>
                        <a:rPr sz="1400" b="0" spc="-15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위원회</a:t>
                      </a:r>
                      <a:r>
                        <a:rPr sz="1400" b="0" spc="-15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400" b="0" spc="-15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심의</a:t>
                      </a:r>
                      <a:endParaRPr sz="1400" b="0" spc="-15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29,417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8,740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게임물</a:t>
                      </a:r>
                      <a:r>
                        <a:rPr sz="1400" b="0" spc="-15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· </a:t>
                      </a:r>
                      <a:r>
                        <a:rPr sz="1400" b="0" spc="-15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자체등급분류</a:t>
                      </a:r>
                      <a:endParaRPr sz="1400" b="0" spc="-15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76,409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83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0.11%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영상물 · 전체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134,464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58,816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43.7%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영상물 · 성인물 제외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84,723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9,076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00" b="0" spc="-15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10.7%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39" y="4016106"/>
            <a:ext cx="10685417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영상물의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43.7%는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성인물에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기인한다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  <a:r>
              <a:rPr lang="en-US"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/>
            </a:r>
            <a:br>
              <a:rPr lang="en-US"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lang="en-US"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 </a:t>
            </a:r>
            <a:r>
              <a:rPr sz="1400" b="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성인물은</a:t>
            </a:r>
            <a:r>
              <a:rPr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내용정보와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무관하게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사실상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전건이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청소년관람불가여서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,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제외하면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10.7%로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낮아진다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종별을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통제하지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않으면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결론이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뒤집힌다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lang="en-US"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/>
            </a:r>
            <a:br>
              <a:rPr lang="en-US"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게임물에서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청소년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이용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제한이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가장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많은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장르는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보드게임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베팅성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)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으로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99.7%이며,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플랫폼에서는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온라인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74.9%로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가장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높다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  <a:r>
              <a:rPr lang="en-US" sz="140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/>
            </a:r>
            <a:br>
              <a:rPr lang="en-US" sz="140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lang="en-US" sz="140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ko-KR" altLang="en-US" sz="140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둘 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다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웹보드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몰려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있는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영역이다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lang="en-US"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/>
            </a:r>
            <a:br>
              <a:rPr lang="en-US"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sz="140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자체등급분류의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청소년이용불가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83건은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제도상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사업자가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부여할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수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없는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등급이므로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,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사후에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등급이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조정된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결과로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4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해석하였다</a:t>
            </a:r>
            <a:r>
              <a:rPr sz="14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54864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6. 산출물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산출물 5종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572387"/>
              </p:ext>
            </p:extLst>
          </p:nvPr>
        </p:nvGraphicFramePr>
        <p:xfrm>
          <a:off x="548640" y="1417320"/>
          <a:ext cx="11064240" cy="2761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산출물</a:t>
                      </a:r>
                      <a:endParaRPr sz="1250" b="1" dirty="0">
                        <a:solidFill>
                          <a:srgbClr val="1F3864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형태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내용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①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통합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분석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parquet ·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게임물·영상물 240,290행 × 35열, 데이터 사전 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②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연령등급·내용정보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EDA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HTML 2종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영상물·게임물 각각의 현황 분석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③ 청소년 이용 제한 특성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규모·추이·분포·항목·조합·자체등급분류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6개 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④ 인터랙티브 대시보드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공개 URL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Streamlit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·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Plotly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6개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화면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,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조건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변경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조회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⑤ 주요 분석 인사이트 리포트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결론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3가지를 한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편으로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정리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15433"/>
            <a:ext cx="11064240" cy="34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https://rating-analysis-260910.streamlit.app/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6908" y="4319096"/>
            <a:ext cx="64959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모든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산출물은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스크립트로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재생성된다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  <a:endParaRPr lang="en-US" sz="1200" spc="-150" dirty="0" smtClean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200" b="0" spc="-15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원자료가</a:t>
            </a:r>
            <a:r>
              <a:rPr sz="1200" b="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갱신되면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수치가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자동으로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따라가며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, </a:t>
            </a:r>
            <a:r>
              <a:rPr lang="en-US" sz="1200" b="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/>
            </a:r>
            <a:br>
              <a:rPr lang="en-US" sz="1200" b="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sz="1200" b="0" spc="-15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리포트와</a:t>
            </a:r>
            <a:r>
              <a:rPr sz="1200" b="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대시보드가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서로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다른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숫자를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말하지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않도록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계산부를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한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곳에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두었다</a:t>
            </a:r>
            <a:r>
              <a:rPr sz="1200" b="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  <a:r>
              <a:rPr lang="en-US" sz="120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endParaRPr lang="en-US" sz="1200" spc="-150" dirty="0" smtClean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200" b="0" spc="-15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이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발표자료도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같은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요약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파일에서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수치를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읽어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200" b="0" spc="-15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만든다</a:t>
            </a:r>
            <a:r>
              <a:rPr sz="1200" b="0" spc="-1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54864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6. 산출물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대시보드: 화면 하나가 질문 하나에 답한다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pic>
        <p:nvPicPr>
          <p:cNvPr id="5" name="Picture 4" descr="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589520" cy="4209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463040"/>
            <a:ext cx="3383280" cy="4054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①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등급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결정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기준</a:t>
            </a:r>
            <a:endParaRPr sz="1350" b="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②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등급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상향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요인</a:t>
            </a:r>
            <a:endParaRPr sz="1350" b="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③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신청등급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대비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조정</a:t>
            </a:r>
            <a:endParaRPr sz="1350" b="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④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매체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간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판정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차이</a:t>
            </a:r>
            <a:endParaRPr sz="1350" b="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⑤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공개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데이터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포괄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범위</a:t>
            </a:r>
            <a:endParaRPr sz="1350" b="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⑥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개별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건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조회</a:t>
            </a:r>
            <a:endParaRPr sz="1350" b="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endParaRPr sz="1350" b="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필터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: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기간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·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영상물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종별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·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게임물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플랫폼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·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성인물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제외</a:t>
            </a:r>
            <a:endParaRPr sz="1350" b="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endParaRPr sz="1350" b="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필터를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바꾸면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화면의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해석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문장도</a:t>
            </a:r>
            <a:endParaRPr sz="1350" b="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다시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계산된다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9904" y="5525297"/>
            <a:ext cx="44196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  <a:hlinkClick r:id="rId4"/>
              </a:rPr>
              <a:t>https://</a:t>
            </a:r>
            <a:r>
              <a:rPr sz="1400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  <a:hlinkClick r:id="rId4"/>
              </a:rPr>
              <a:t>rating-analysis-260910.streamlit.app/</a:t>
            </a:r>
            <a:endParaRPr lang="en-US" sz="1400" dirty="0" smtClean="0">
              <a:solidFill>
                <a:srgbClr val="1F3864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5486400" cy="29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7.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한계와</a:t>
            </a: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배운</a:t>
            </a: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47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한계와 후속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327631"/>
              </p:ext>
            </p:extLst>
          </p:nvPr>
        </p:nvGraphicFramePr>
        <p:xfrm>
          <a:off x="548640" y="1417320"/>
          <a:ext cx="11064239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구분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내용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표본의 범위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게임물 결과는 위원회가 직접 심의한 분류분에 한정된다. 공개 API 로 확인되는 범위는 전체의 0.27%다.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표본 구성 편중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영상물은 성인물이 37%를 차지하며, 성인물은 내용정보와 무관하게 대부분 청소년관람불가다.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이진화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매체 비교는 영상물을 3단계에서 자른 기준 위에서만 성립한다. 절단 지점은 데이터로 정해지지 않는다.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비교군 자료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자체등급분류 비교군은 약 7주치가 전부이고 재수집이 불가능하여 추세 분석에 쓸 수 없다.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후속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과제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두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자료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모두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서술형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설명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필드를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갖고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있다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.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게임물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개요는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97.4%,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영상물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작품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내용은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2018년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이후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100%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기록되어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있어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다음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분석의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재료가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된다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54864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7.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한계와</a:t>
            </a: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100" b="0" dirty="0" err="1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배운</a:t>
            </a:r>
            <a:r>
              <a:rPr sz="1100" b="0" dirty="0">
                <a:solidFill>
                  <a:srgbClr val="6B728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폐기한 결론 두 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분석</a:t>
            </a:r>
            <a:r>
              <a:rPr sz="16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도중</a:t>
            </a:r>
            <a:r>
              <a:rPr sz="16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결과가</a:t>
            </a:r>
            <a:r>
              <a:rPr sz="16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뒤집혀</a:t>
            </a:r>
            <a:r>
              <a:rPr sz="16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폐기한</a:t>
            </a:r>
            <a:r>
              <a:rPr sz="16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것이</a:t>
            </a:r>
            <a:r>
              <a:rPr sz="16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둘 </a:t>
            </a:r>
            <a:r>
              <a:rPr sz="16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있다</a:t>
            </a:r>
            <a:r>
              <a:rPr sz="16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  <a:r>
              <a:rPr sz="16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과정에서</a:t>
            </a:r>
            <a:r>
              <a:rPr sz="16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가장</a:t>
            </a:r>
            <a:r>
              <a:rPr sz="16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많이</a:t>
            </a:r>
            <a:r>
              <a:rPr sz="16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배운</a:t>
            </a:r>
            <a:r>
              <a:rPr sz="16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60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부분이다</a:t>
            </a:r>
            <a:r>
              <a:rPr sz="160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178410"/>
              </p:ext>
            </p:extLst>
          </p:nvPr>
        </p:nvGraphicFramePr>
        <p:xfrm>
          <a:off x="548640" y="2145444"/>
          <a:ext cx="11064239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폐기한</a:t>
                      </a:r>
                      <a:r>
                        <a:rPr sz="1250" b="1" dirty="0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1" dirty="0" err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결론</a:t>
                      </a:r>
                      <a:endParaRPr sz="1250" b="1" dirty="0">
                        <a:solidFill>
                          <a:srgbClr val="1F3864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1F3864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왜 틀렸는가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내용정보로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등급을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설명할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수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있다</a:t>
                      </a:r>
                      <a:endParaRPr sz="1250" b="0" dirty="0">
                        <a:solidFill>
                          <a:srgbClr val="1F2328"/>
                        </a:solidFill>
                        <a:latin typeface="나눔고딕OTF" panose="020D0604000000000000" pitchFamily="34" charset="-127"/>
                        <a:ea typeface="나눔고딕OTF" panose="020D0604000000000000" pitchFamily="34" charset="-127"/>
                      </a:endParaRPr>
                    </a:p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(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회귀분석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AUC 1.000)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모형이 좋았던 것이 아니라 등급이 곧 내용정보의 최고값이어서 같은 값을 두 번 쓴 것이었다. 교차표를 찍어 보고 나서야 항등식임을 확인했다.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항목이 여러 개 겹칠수록 등급이 올라간다</a:t>
                      </a:r>
                    </a:p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(개수 4개 93.4% → 5개 71.5%로 꺾임)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성인물이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특정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구간에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몰려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생긴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착시였다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.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성인물을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제외하니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꺾임이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사라지고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단조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증가로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바뀌었다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.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종별을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통제하지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않은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것이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원인이다</a:t>
                      </a:r>
                      <a:r>
                        <a:rPr sz="1250" b="0" dirty="0">
                          <a:solidFill>
                            <a:srgbClr val="1F2328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.</a:t>
                      </a:r>
                    </a:p>
                  </a:txBody>
                  <a:tcPr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1106424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배운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것: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결과가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지나치게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깨끗하면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모형이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아니라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데이터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구조를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먼저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의심해야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한다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  <a:r>
              <a:rPr lang="en-US"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/>
            </a:r>
            <a:br>
              <a:rPr lang="en-US"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sz="2000" b="1" dirty="0" err="1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그리고</a:t>
            </a:r>
            <a:r>
              <a:rPr sz="2000" b="1" dirty="0" smtClean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비율을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비교하기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전에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그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비율을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만든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집단의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구성을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먼저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맞춰야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2000" b="1" dirty="0" err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한다</a:t>
            </a:r>
            <a:r>
              <a:rPr sz="2000" b="1" dirty="0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0352"/>
            <a:ext cx="112471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11274552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997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700" b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1.  게임물의 청소년이용불가를 결정하는 것은 폭력성이나 선정성이 아니라 사행성이다.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700" b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2.  다만 공개 데이터로 확인할 수 있는 범위는 게임물 등급분류 전체의 0.27%다.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700" b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3.  영상물의 등급은 내용정보의 최고값과 동일하며, 판단이 개입하는 영역은 12.2%뿐이다.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700" b="0">
                <a:solidFill>
                  <a:srgbClr val="1F2328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4.  같은 조건에서 비교하면 게임물의 판정이 더 엄격하다. 단 절단 기준을 전제로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435" y="3800728"/>
            <a:ext cx="10972800" cy="34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산출물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5435" y="4143129"/>
            <a:ext cx="10972800" cy="1698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altLang="ko-KR" sz="13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350" b="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대시보드</a:t>
            </a:r>
            <a:r>
              <a:rPr sz="135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https://rating-analysis-260910.streamlit.app/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altLang="ko-KR" sz="135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350" b="0" dirty="0" err="1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통합</a:t>
            </a:r>
            <a:r>
              <a:rPr sz="135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Dataset </a:t>
            </a:r>
            <a:endParaRPr lang="en-US" sz="1350" b="0" dirty="0" smtClean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EDA 2종 </a:t>
            </a:r>
            <a:endParaRPr lang="en-US" sz="1350" b="0" dirty="0" smtClean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청소년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이용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제한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특성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분석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endParaRPr lang="en-US" sz="1350" b="0" dirty="0" smtClean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 smtClean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·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인사이트</a:t>
            </a:r>
            <a:r>
              <a:rPr sz="1350" b="0" dirty="0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sz="1350" b="0" dirty="0" err="1">
                <a:solidFill>
                  <a:srgbClr val="1F2328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리포트</a:t>
            </a:r>
            <a:endParaRPr sz="1350" b="0" dirty="0">
              <a:solidFill>
                <a:srgbClr val="1F2328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97793" y="5550437"/>
            <a:ext cx="2140442" cy="5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 dirty="0" err="1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감사합니다</a:t>
            </a:r>
            <a:r>
              <a:rPr sz="2800" b="1" dirty="0">
                <a:solidFill>
                  <a:srgbClr val="1F3864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3247</Words>
  <Application>Microsoft Office PowerPoint</Application>
  <PresentationFormat>와이드스크린</PresentationFormat>
  <Paragraphs>485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경기천년제목 Bold</vt:lpstr>
      <vt:lpstr>나눔고딕OTF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74</cp:revision>
  <dcterms:created xsi:type="dcterms:W3CDTF">2013-01-27T09:14:16Z</dcterms:created>
  <dcterms:modified xsi:type="dcterms:W3CDTF">2026-09-14T07:06:19Z</dcterms:modified>
  <cp:category/>
</cp:coreProperties>
</file>